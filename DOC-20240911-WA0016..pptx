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76" r:id="rId2"/>
    <p:sldId id="257" r:id="rId3"/>
    <p:sldId id="278" r:id="rId4"/>
    <p:sldId id="259" r:id="rId5"/>
    <p:sldId id="270" r:id="rId6"/>
    <p:sldId id="260" r:id="rId7"/>
    <p:sldId id="261" r:id="rId8"/>
    <p:sldId id="262" r:id="rId9"/>
    <p:sldId id="27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6" d="100"/>
          <a:sy n="96" d="100"/>
        </p:scale>
        <p:origin x="1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ya. K" userId="cd02597a9bc5b321" providerId="LiveId" clId="{A0541C5C-EF87-4E21-8F1B-DAAF7285A7D9}"/>
    <pc:docChg chg="undo redo custSel addSld modSld">
      <pc:chgData name="Diya. K" userId="cd02597a9bc5b321" providerId="LiveId" clId="{A0541C5C-EF87-4E21-8F1B-DAAF7285A7D9}" dt="2024-09-11T13:24:36.473" v="1428" actId="14100"/>
      <pc:docMkLst>
        <pc:docMk/>
      </pc:docMkLst>
      <pc:sldChg chg="modSp mod">
        <pc:chgData name="Diya. K" userId="cd02597a9bc5b321" providerId="LiveId" clId="{A0541C5C-EF87-4E21-8F1B-DAAF7285A7D9}" dt="2024-09-11T09:31:14.263" v="25" actId="20577"/>
        <pc:sldMkLst>
          <pc:docMk/>
          <pc:sldMk cId="1421408391" sldId="257"/>
        </pc:sldMkLst>
        <pc:spChg chg="mod">
          <ac:chgData name="Diya. K" userId="cd02597a9bc5b321" providerId="LiveId" clId="{A0541C5C-EF87-4E21-8F1B-DAAF7285A7D9}" dt="2024-09-11T09:31:14.263" v="25" actId="20577"/>
          <ac:spMkLst>
            <pc:docMk/>
            <pc:sldMk cId="1421408391" sldId="257"/>
            <ac:spMk id="2" creationId="{33F92A1C-EC3C-95A5-0145-A10346DA1349}"/>
          </ac:spMkLst>
        </pc:spChg>
      </pc:sldChg>
      <pc:sldChg chg="modSp mod">
        <pc:chgData name="Diya. K" userId="cd02597a9bc5b321" providerId="LiveId" clId="{A0541C5C-EF87-4E21-8F1B-DAAF7285A7D9}" dt="2024-09-11T12:50:47.401" v="600" actId="255"/>
        <pc:sldMkLst>
          <pc:docMk/>
          <pc:sldMk cId="2849616827" sldId="260"/>
        </pc:sldMkLst>
        <pc:spChg chg="mod">
          <ac:chgData name="Diya. K" userId="cd02597a9bc5b321" providerId="LiveId" clId="{A0541C5C-EF87-4E21-8F1B-DAAF7285A7D9}" dt="2024-09-11T12:50:47.401" v="600" actId="255"/>
          <ac:spMkLst>
            <pc:docMk/>
            <pc:sldMk cId="2849616827" sldId="260"/>
            <ac:spMk id="3" creationId="{5EDFCC33-EC85-CBE6-01B5-AEBA686D61F2}"/>
          </ac:spMkLst>
        </pc:spChg>
      </pc:sldChg>
      <pc:sldChg chg="modSp mod">
        <pc:chgData name="Diya. K" userId="cd02597a9bc5b321" providerId="LiveId" clId="{A0541C5C-EF87-4E21-8F1B-DAAF7285A7D9}" dt="2024-09-11T12:51:16.564" v="602" actId="14100"/>
        <pc:sldMkLst>
          <pc:docMk/>
          <pc:sldMk cId="1664765237" sldId="261"/>
        </pc:sldMkLst>
        <pc:picChg chg="mod">
          <ac:chgData name="Diya. K" userId="cd02597a9bc5b321" providerId="LiveId" clId="{A0541C5C-EF87-4E21-8F1B-DAAF7285A7D9}" dt="2024-09-11T12:51:16.564" v="602" actId="14100"/>
          <ac:picMkLst>
            <pc:docMk/>
            <pc:sldMk cId="1664765237" sldId="261"/>
            <ac:picMk id="9" creationId="{1CC7A559-6CBF-F351-B5BF-09E57CAA6A39}"/>
          </ac:picMkLst>
        </pc:picChg>
      </pc:sldChg>
      <pc:sldChg chg="modSp mod">
        <pc:chgData name="Diya. K" userId="cd02597a9bc5b321" providerId="LiveId" clId="{A0541C5C-EF87-4E21-8F1B-DAAF7285A7D9}" dt="2024-09-11T12:46:13.764" v="522" actId="2711"/>
        <pc:sldMkLst>
          <pc:docMk/>
          <pc:sldMk cId="2225915951" sldId="270"/>
        </pc:sldMkLst>
        <pc:spChg chg="mod">
          <ac:chgData name="Diya. K" userId="cd02597a9bc5b321" providerId="LiveId" clId="{A0541C5C-EF87-4E21-8F1B-DAAF7285A7D9}" dt="2024-09-11T12:46:13.764" v="522" actId="2711"/>
          <ac:spMkLst>
            <pc:docMk/>
            <pc:sldMk cId="2225915951" sldId="270"/>
            <ac:spMk id="10" creationId="{86D9DB81-E6D8-FDE0-42D0-7D3E392CB186}"/>
          </ac:spMkLst>
        </pc:spChg>
      </pc:sldChg>
      <pc:sldChg chg="modSp mod">
        <pc:chgData name="Diya. K" userId="cd02597a9bc5b321" providerId="LiveId" clId="{A0541C5C-EF87-4E21-8F1B-DAAF7285A7D9}" dt="2024-09-11T13:24:36.473" v="1428" actId="14100"/>
        <pc:sldMkLst>
          <pc:docMk/>
          <pc:sldMk cId="2982776764" sldId="276"/>
        </pc:sldMkLst>
        <pc:spChg chg="mod">
          <ac:chgData name="Diya. K" userId="cd02597a9bc5b321" providerId="LiveId" clId="{A0541C5C-EF87-4E21-8F1B-DAAF7285A7D9}" dt="2024-09-11T13:18:10.879" v="859" actId="14100"/>
          <ac:spMkLst>
            <pc:docMk/>
            <pc:sldMk cId="2982776764" sldId="276"/>
            <ac:spMk id="5" creationId="{01FB9727-1533-B583-E867-8F0A734F51A2}"/>
          </ac:spMkLst>
        </pc:spChg>
        <pc:spChg chg="mod">
          <ac:chgData name="Diya. K" userId="cd02597a9bc5b321" providerId="LiveId" clId="{A0541C5C-EF87-4E21-8F1B-DAAF7285A7D9}" dt="2024-09-11T13:24:36.473" v="1428" actId="14100"/>
          <ac:spMkLst>
            <pc:docMk/>
            <pc:sldMk cId="2982776764" sldId="276"/>
            <ac:spMk id="8" creationId="{6A1F2DB1-26B6-30C6-CCB9-45F7AC115DE5}"/>
          </ac:spMkLst>
        </pc:spChg>
        <pc:graphicFrameChg chg="mod modGraphic">
          <ac:chgData name="Diya. K" userId="cd02597a9bc5b321" providerId="LiveId" clId="{A0541C5C-EF87-4E21-8F1B-DAAF7285A7D9}" dt="2024-09-11T13:18:44.067" v="865" actId="14100"/>
          <ac:graphicFrameMkLst>
            <pc:docMk/>
            <pc:sldMk cId="2982776764" sldId="276"/>
            <ac:graphicFrameMk id="3" creationId="{59B6C2CF-FBD8-3465-5713-E81253DFD974}"/>
          </ac:graphicFrameMkLst>
        </pc:graphicFrameChg>
        <pc:picChg chg="mod">
          <ac:chgData name="Diya. K" userId="cd02597a9bc5b321" providerId="LiveId" clId="{A0541C5C-EF87-4E21-8F1B-DAAF7285A7D9}" dt="2024-09-11T13:17:42.702" v="858" actId="14100"/>
          <ac:picMkLst>
            <pc:docMk/>
            <pc:sldMk cId="2982776764" sldId="276"/>
            <ac:picMk id="6" creationId="{ACD7B829-A627-684C-B941-B6972BC0B0BB}"/>
          </ac:picMkLst>
        </pc:picChg>
      </pc:sldChg>
      <pc:sldChg chg="modSp new mod">
        <pc:chgData name="Diya. K" userId="cd02597a9bc5b321" providerId="LiveId" clId="{A0541C5C-EF87-4E21-8F1B-DAAF7285A7D9}" dt="2024-09-11T09:30:11.870" v="13" actId="2711"/>
        <pc:sldMkLst>
          <pc:docMk/>
          <pc:sldMk cId="2044150514" sldId="278"/>
        </pc:sldMkLst>
        <pc:spChg chg="mod">
          <ac:chgData name="Diya. K" userId="cd02597a9bc5b321" providerId="LiveId" clId="{A0541C5C-EF87-4E21-8F1B-DAAF7285A7D9}" dt="2024-09-11T09:30:11.870" v="13" actId="2711"/>
          <ac:spMkLst>
            <pc:docMk/>
            <pc:sldMk cId="2044150514" sldId="278"/>
            <ac:spMk id="2" creationId="{B4EFDE44-F49B-4661-485F-36F77D8BB318}"/>
          </ac:spMkLst>
        </pc:spChg>
        <pc:spChg chg="mod">
          <ac:chgData name="Diya. K" userId="cd02597a9bc5b321" providerId="LiveId" clId="{A0541C5C-EF87-4E21-8F1B-DAAF7285A7D9}" dt="2024-09-11T09:30:03.142" v="12"/>
          <ac:spMkLst>
            <pc:docMk/>
            <pc:sldMk cId="2044150514" sldId="278"/>
            <ac:spMk id="3" creationId="{95CE1277-8278-1CBF-4C2F-E740FA2CFB2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E9BE390-40B0-4DE1-B8CD-B8AE365ABC91}" type="datetimeFigureOut">
              <a:rPr lang="en-IN" smtClean="0"/>
              <a:t>11-09-2024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B14BB4-14D5-4B01-BD46-C84150056A3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5384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9BE390-40B0-4DE1-B8CD-B8AE365ABC91}" type="datetimeFigureOut">
              <a:rPr lang="en-IN" smtClean="0"/>
              <a:t>11-09-2024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B14BB4-14D5-4B01-BD46-C84150056A39}" type="slidenum">
              <a:rPr lang="en-IN" smtClean="0"/>
              <a:t>‹#›</a:t>
            </a:fld>
            <a:endParaRPr lang="en-IN"/>
          </a:p>
        </p:txBody>
      </p:sp>
    </p:spTree>
    <p:extLst>
      <p:ext uri="{BB962C8B-B14F-4D97-AF65-F5344CB8AC3E}">
        <p14:creationId xmlns:p14="http://schemas.microsoft.com/office/powerpoint/2010/main" val="4271969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9BE390-40B0-4DE1-B8CD-B8AE365ABC91}" type="datetimeFigureOut">
              <a:rPr lang="en-IN" smtClean="0"/>
              <a:t>11-09-2024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B14BB4-14D5-4B01-BD46-C84150056A3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5442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9BE390-40B0-4DE1-B8CD-B8AE365ABC91}" type="datetimeFigureOut">
              <a:rPr lang="en-IN" smtClean="0"/>
              <a:t>11-09-2024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B14BB4-14D5-4B01-BD46-C84150056A39}" type="slidenum">
              <a:rPr lang="en-IN" smtClean="0"/>
              <a:t>‹#›</a:t>
            </a:fld>
            <a:endParaRPr lang="en-IN"/>
          </a:p>
        </p:txBody>
      </p:sp>
    </p:spTree>
    <p:extLst>
      <p:ext uri="{BB962C8B-B14F-4D97-AF65-F5344CB8AC3E}">
        <p14:creationId xmlns:p14="http://schemas.microsoft.com/office/powerpoint/2010/main" val="1619175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9BE390-40B0-4DE1-B8CD-B8AE365ABC91}" type="datetimeFigureOut">
              <a:rPr lang="en-IN" smtClean="0"/>
              <a:t>11-09-2024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B14BB4-14D5-4B01-BD46-C84150056A39}" type="slidenum">
              <a:rPr lang="en-IN" smtClean="0"/>
              <a:t>‹#›</a:t>
            </a:fld>
            <a:endParaRPr lang="en-IN"/>
          </a:p>
        </p:txBody>
      </p:sp>
    </p:spTree>
    <p:extLst>
      <p:ext uri="{BB962C8B-B14F-4D97-AF65-F5344CB8AC3E}">
        <p14:creationId xmlns:p14="http://schemas.microsoft.com/office/powerpoint/2010/main" val="1224008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E9BE390-40B0-4DE1-B8CD-B8AE365ABC91}" type="datetimeFigureOut">
              <a:rPr lang="en-IN" smtClean="0"/>
              <a:t>11-09-2024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B14BB4-14D5-4B01-BD46-C84150056A39}" type="slidenum">
              <a:rPr lang="en-IN" smtClean="0"/>
              <a:t>‹#›</a:t>
            </a:fld>
            <a:endParaRPr lang="en-IN"/>
          </a:p>
        </p:txBody>
      </p:sp>
    </p:spTree>
    <p:extLst>
      <p:ext uri="{BB962C8B-B14F-4D97-AF65-F5344CB8AC3E}">
        <p14:creationId xmlns:p14="http://schemas.microsoft.com/office/powerpoint/2010/main" val="695856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E9BE390-40B0-4DE1-B8CD-B8AE365ABC91}" type="datetimeFigureOut">
              <a:rPr lang="en-IN" smtClean="0"/>
              <a:t>11-09-2024</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28B14BB4-14D5-4B01-BD46-C84150056A39}" type="slidenum">
              <a:rPr lang="en-IN" smtClean="0"/>
              <a:t>‹#›</a:t>
            </a:fld>
            <a:endParaRPr lang="en-IN"/>
          </a:p>
        </p:txBody>
      </p:sp>
    </p:spTree>
    <p:extLst>
      <p:ext uri="{BB962C8B-B14F-4D97-AF65-F5344CB8AC3E}">
        <p14:creationId xmlns:p14="http://schemas.microsoft.com/office/powerpoint/2010/main" val="1904187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E9BE390-40B0-4DE1-B8CD-B8AE365ABC91}" type="datetimeFigureOut">
              <a:rPr lang="en-IN" smtClean="0"/>
              <a:t>11-09-2024</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8B14BB4-14D5-4B01-BD46-C84150056A39}" type="slidenum">
              <a:rPr lang="en-IN" smtClean="0"/>
              <a:t>‹#›</a:t>
            </a:fld>
            <a:endParaRPr lang="en-IN"/>
          </a:p>
        </p:txBody>
      </p:sp>
    </p:spTree>
    <p:extLst>
      <p:ext uri="{BB962C8B-B14F-4D97-AF65-F5344CB8AC3E}">
        <p14:creationId xmlns:p14="http://schemas.microsoft.com/office/powerpoint/2010/main" val="2751477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9BE390-40B0-4DE1-B8CD-B8AE365ABC91}" type="datetimeFigureOut">
              <a:rPr lang="en-IN" smtClean="0"/>
              <a:t>11-09-2024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B14BB4-14D5-4B01-BD46-C84150056A39}" type="slidenum">
              <a:rPr lang="en-IN" smtClean="0"/>
              <a:t>‹#›</a:t>
            </a:fld>
            <a:endParaRPr lang="en-IN"/>
          </a:p>
        </p:txBody>
      </p:sp>
    </p:spTree>
    <p:extLst>
      <p:ext uri="{BB962C8B-B14F-4D97-AF65-F5344CB8AC3E}">
        <p14:creationId xmlns:p14="http://schemas.microsoft.com/office/powerpoint/2010/main" val="508686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9BE390-40B0-4DE1-B8CD-B8AE365ABC91}" type="datetimeFigureOut">
              <a:rPr lang="en-IN" smtClean="0"/>
              <a:t>11-09-2024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B14BB4-14D5-4B01-BD46-C84150056A39}" type="slidenum">
              <a:rPr lang="en-IN" smtClean="0"/>
              <a:t>‹#›</a:t>
            </a:fld>
            <a:endParaRPr lang="en-IN"/>
          </a:p>
        </p:txBody>
      </p:sp>
    </p:spTree>
    <p:extLst>
      <p:ext uri="{BB962C8B-B14F-4D97-AF65-F5344CB8AC3E}">
        <p14:creationId xmlns:p14="http://schemas.microsoft.com/office/powerpoint/2010/main" val="353387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9BE390-40B0-4DE1-B8CD-B8AE365ABC91}" type="datetimeFigureOut">
              <a:rPr lang="en-IN" smtClean="0"/>
              <a:t>11-09-2024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B14BB4-14D5-4B01-BD46-C84150056A39}" type="slidenum">
              <a:rPr lang="en-IN" smtClean="0"/>
              <a:t>‹#›</a:t>
            </a:fld>
            <a:endParaRPr lang="en-IN"/>
          </a:p>
        </p:txBody>
      </p:sp>
    </p:spTree>
    <p:extLst>
      <p:ext uri="{BB962C8B-B14F-4D97-AF65-F5344CB8AC3E}">
        <p14:creationId xmlns:p14="http://schemas.microsoft.com/office/powerpoint/2010/main" val="791068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E9BE390-40B0-4DE1-B8CD-B8AE365ABC91}" type="datetimeFigureOut">
              <a:rPr lang="en-IN" smtClean="0"/>
              <a:t>11-09-2024</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8B14BB4-14D5-4B01-BD46-C84150056A39}"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032398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FB9727-1533-B583-E867-8F0A734F51A2}"/>
              </a:ext>
            </a:extLst>
          </p:cNvPr>
          <p:cNvSpPr txBox="1"/>
          <p:nvPr/>
        </p:nvSpPr>
        <p:spPr>
          <a:xfrm>
            <a:off x="1075413" y="1144988"/>
            <a:ext cx="9645460" cy="1569660"/>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PIP2001 Capstone Project(Review-0)                   </a:t>
            </a:r>
            <a:r>
              <a:rPr lang="en-IN" sz="2400" b="1" dirty="0">
                <a:latin typeface="Times New Roman" panose="02020603050405020304" pitchFamily="18" charset="0"/>
                <a:cs typeface="Times New Roman" panose="02020603050405020304" pitchFamily="18" charset="0"/>
              </a:rPr>
              <a:t>Batch No:CBC-09</a:t>
            </a:r>
            <a:endParaRPr lang="en-US" sz="2400" b="1" dirty="0">
              <a:latin typeface="Times New Roman" panose="02020603050405020304" pitchFamily="18" charset="0"/>
              <a:cs typeface="Times New Roman" panose="02020603050405020304" pitchFamily="18" charset="0"/>
            </a:endParaRPr>
          </a:p>
          <a:p>
            <a:r>
              <a:rPr lang="en-US" sz="2400" b="1" dirty="0" err="1">
                <a:latin typeface="Times New Roman" panose="02020603050405020304" pitchFamily="18" charset="0"/>
                <a:cs typeface="Times New Roman" panose="02020603050405020304" pitchFamily="18" charset="0"/>
              </a:rPr>
              <a:t>TITLE:Project</a:t>
            </a:r>
            <a:r>
              <a:rPr lang="en-US" sz="2400" b="1" dirty="0">
                <a:latin typeface="Times New Roman" panose="02020603050405020304" pitchFamily="18" charset="0"/>
                <a:cs typeface="Times New Roman" panose="02020603050405020304" pitchFamily="18" charset="0"/>
              </a:rPr>
              <a:t> Title: </a:t>
            </a:r>
            <a:r>
              <a:rPr lang="en-US" sz="2400" dirty="0">
                <a:latin typeface="Times New Roman" panose="02020603050405020304" pitchFamily="18" charset="0"/>
                <a:cs typeface="Times New Roman" panose="02020603050405020304" pitchFamily="18" charset="0"/>
              </a:rPr>
              <a:t>"Subsidy Chain: Promising Transparency and Integrity in Government Fund Distribution"</a:t>
            </a:r>
            <a:endParaRPr lang="en-IN" sz="2000"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CD7B829-A627-684C-B941-B6972BC0B0BB}"/>
              </a:ext>
            </a:extLst>
          </p:cNvPr>
          <p:cNvPicPr>
            <a:picLocks noChangeAspect="1"/>
          </p:cNvPicPr>
          <p:nvPr/>
        </p:nvPicPr>
        <p:blipFill>
          <a:blip r:embed="rId2"/>
          <a:stretch>
            <a:fillRect/>
          </a:stretch>
        </p:blipFill>
        <p:spPr>
          <a:xfrm>
            <a:off x="804829" y="55659"/>
            <a:ext cx="10001250" cy="1089329"/>
          </a:xfrm>
          <a:prstGeom prst="rect">
            <a:avLst/>
          </a:prstGeom>
        </p:spPr>
      </p:pic>
      <p:graphicFrame>
        <p:nvGraphicFramePr>
          <p:cNvPr id="3" name="Table 2">
            <a:extLst>
              <a:ext uri="{FF2B5EF4-FFF2-40B4-BE49-F238E27FC236}">
                <a16:creationId xmlns:a16="http://schemas.microsoft.com/office/drawing/2014/main" id="{59B6C2CF-FBD8-3465-5713-E81253DFD974}"/>
              </a:ext>
            </a:extLst>
          </p:cNvPr>
          <p:cNvGraphicFramePr>
            <a:graphicFrameLocks noGrp="1"/>
          </p:cNvGraphicFramePr>
          <p:nvPr>
            <p:extLst>
              <p:ext uri="{D42A27DB-BD31-4B8C-83A1-F6EECF244321}">
                <p14:modId xmlns:p14="http://schemas.microsoft.com/office/powerpoint/2010/main" val="1890732554"/>
              </p:ext>
            </p:extLst>
          </p:nvPr>
        </p:nvGraphicFramePr>
        <p:xfrm>
          <a:off x="1075413" y="2345635"/>
          <a:ext cx="8903475" cy="1828800"/>
        </p:xfrm>
        <a:graphic>
          <a:graphicData uri="http://schemas.openxmlformats.org/drawingml/2006/table">
            <a:tbl>
              <a:tblPr firstRow="1" bandRow="1">
                <a:tableStyleId>{5C22544A-7EE6-4342-B048-85BDC9FD1C3A}</a:tableStyleId>
              </a:tblPr>
              <a:tblGrid>
                <a:gridCol w="2967825">
                  <a:extLst>
                    <a:ext uri="{9D8B030D-6E8A-4147-A177-3AD203B41FA5}">
                      <a16:colId xmlns:a16="http://schemas.microsoft.com/office/drawing/2014/main" val="3426801571"/>
                    </a:ext>
                  </a:extLst>
                </a:gridCol>
                <a:gridCol w="2967825">
                  <a:extLst>
                    <a:ext uri="{9D8B030D-6E8A-4147-A177-3AD203B41FA5}">
                      <a16:colId xmlns:a16="http://schemas.microsoft.com/office/drawing/2014/main" val="1867016013"/>
                    </a:ext>
                  </a:extLst>
                </a:gridCol>
                <a:gridCol w="2967825">
                  <a:extLst>
                    <a:ext uri="{9D8B030D-6E8A-4147-A177-3AD203B41FA5}">
                      <a16:colId xmlns:a16="http://schemas.microsoft.com/office/drawing/2014/main" val="3975746733"/>
                    </a:ext>
                  </a:extLst>
                </a:gridCol>
              </a:tblGrid>
              <a:tr h="330774">
                <a:tc>
                  <a:txBody>
                    <a:bodyPr/>
                    <a:lstStyle/>
                    <a:p>
                      <a:r>
                        <a:rPr lang="en-IN" dirty="0"/>
                        <a:t>                     S.NO</a:t>
                      </a:r>
                    </a:p>
                  </a:txBody>
                  <a:tcPr/>
                </a:tc>
                <a:tc>
                  <a:txBody>
                    <a:bodyPr/>
                    <a:lstStyle/>
                    <a:p>
                      <a:r>
                        <a:rPr lang="en-IN" dirty="0"/>
                        <a:t>      STUDENT NAME</a:t>
                      </a:r>
                    </a:p>
                  </a:txBody>
                  <a:tcPr/>
                </a:tc>
                <a:tc>
                  <a:txBody>
                    <a:bodyPr/>
                    <a:lstStyle/>
                    <a:p>
                      <a:r>
                        <a:rPr lang="en-IN" dirty="0"/>
                        <a:t>        ROLL.NO</a:t>
                      </a:r>
                    </a:p>
                  </a:txBody>
                  <a:tcPr/>
                </a:tc>
                <a:extLst>
                  <a:ext uri="{0D108BD9-81ED-4DB2-BD59-A6C34878D82A}">
                    <a16:rowId xmlns:a16="http://schemas.microsoft.com/office/drawing/2014/main" val="1366172180"/>
                  </a:ext>
                </a:extLst>
              </a:tr>
              <a:tr h="330774">
                <a:tc>
                  <a:txBody>
                    <a:bodyPr/>
                    <a:lstStyle/>
                    <a:p>
                      <a:r>
                        <a:rPr lang="en-IN" dirty="0"/>
                        <a:t>                      01</a:t>
                      </a:r>
                    </a:p>
                  </a:txBody>
                  <a:tcPr/>
                </a:tc>
                <a:tc>
                  <a:txBody>
                    <a:bodyPr/>
                    <a:lstStyle/>
                    <a:p>
                      <a:r>
                        <a:rPr lang="en-IN" dirty="0"/>
                        <a:t>           Dyamalli  K</a:t>
                      </a:r>
                    </a:p>
                  </a:txBody>
                  <a:tcPr/>
                </a:tc>
                <a:tc>
                  <a:txBody>
                    <a:bodyPr/>
                    <a:lstStyle/>
                    <a:p>
                      <a:r>
                        <a:rPr lang="en-IN" dirty="0"/>
                        <a:t>      20211CBC0046</a:t>
                      </a:r>
                    </a:p>
                  </a:txBody>
                  <a:tcPr/>
                </a:tc>
                <a:extLst>
                  <a:ext uri="{0D108BD9-81ED-4DB2-BD59-A6C34878D82A}">
                    <a16:rowId xmlns:a16="http://schemas.microsoft.com/office/drawing/2014/main" val="2965053929"/>
                  </a:ext>
                </a:extLst>
              </a:tr>
              <a:tr h="330774">
                <a:tc>
                  <a:txBody>
                    <a:bodyPr/>
                    <a:lstStyle/>
                    <a:p>
                      <a:r>
                        <a:rPr lang="en-IN" dirty="0"/>
                        <a:t>                      02</a:t>
                      </a:r>
                    </a:p>
                  </a:txBody>
                  <a:tcPr/>
                </a:tc>
                <a:tc>
                  <a:txBody>
                    <a:bodyPr/>
                    <a:lstStyle/>
                    <a:p>
                      <a:r>
                        <a:rPr lang="en-IN" dirty="0"/>
                        <a:t>           Monica N</a:t>
                      </a:r>
                    </a:p>
                  </a:txBody>
                  <a:tcPr/>
                </a:tc>
                <a:tc>
                  <a:txBody>
                    <a:bodyPr/>
                    <a:lstStyle/>
                    <a:p>
                      <a:r>
                        <a:rPr lang="en-IN" dirty="0"/>
                        <a:t>      20211CBC0049</a:t>
                      </a:r>
                    </a:p>
                  </a:txBody>
                  <a:tcPr/>
                </a:tc>
                <a:extLst>
                  <a:ext uri="{0D108BD9-81ED-4DB2-BD59-A6C34878D82A}">
                    <a16:rowId xmlns:a16="http://schemas.microsoft.com/office/drawing/2014/main" val="71159930"/>
                  </a:ext>
                </a:extLst>
              </a:tr>
              <a:tr h="330774">
                <a:tc>
                  <a:txBody>
                    <a:bodyPr/>
                    <a:lstStyle/>
                    <a:p>
                      <a:r>
                        <a:rPr lang="en-IN" dirty="0"/>
                        <a:t>                      03</a:t>
                      </a:r>
                    </a:p>
                  </a:txBody>
                  <a:tcPr/>
                </a:tc>
                <a:tc>
                  <a:txBody>
                    <a:bodyPr/>
                    <a:lstStyle/>
                    <a:p>
                      <a:r>
                        <a:rPr lang="en-IN" dirty="0"/>
                        <a:t>   </a:t>
                      </a:r>
                      <a:r>
                        <a:rPr lang="en-IN" dirty="0" err="1"/>
                        <a:t>Rupalagudi</a:t>
                      </a:r>
                      <a:r>
                        <a:rPr lang="en-IN" dirty="0"/>
                        <a:t> </a:t>
                      </a:r>
                      <a:r>
                        <a:rPr lang="en-IN" dirty="0" err="1"/>
                        <a:t>Likhitha</a:t>
                      </a:r>
                      <a:endParaRPr lang="en-IN" dirty="0"/>
                    </a:p>
                  </a:txBody>
                  <a:tcPr/>
                </a:tc>
                <a:tc>
                  <a:txBody>
                    <a:bodyPr/>
                    <a:lstStyle/>
                    <a:p>
                      <a:r>
                        <a:rPr lang="en-IN" dirty="0"/>
                        <a:t>       20211CBC0061</a:t>
                      </a:r>
                    </a:p>
                  </a:txBody>
                  <a:tcPr/>
                </a:tc>
                <a:extLst>
                  <a:ext uri="{0D108BD9-81ED-4DB2-BD59-A6C34878D82A}">
                    <a16:rowId xmlns:a16="http://schemas.microsoft.com/office/drawing/2014/main" val="223539218"/>
                  </a:ext>
                </a:extLst>
              </a:tr>
              <a:tr h="330774">
                <a:tc>
                  <a:txBody>
                    <a:bodyPr/>
                    <a:lstStyle/>
                    <a:p>
                      <a:r>
                        <a:rPr lang="en-IN" dirty="0"/>
                        <a:t>                      04</a:t>
                      </a:r>
                    </a:p>
                  </a:txBody>
                  <a:tcPr/>
                </a:tc>
                <a:tc>
                  <a:txBody>
                    <a:bodyPr/>
                    <a:lstStyle/>
                    <a:p>
                      <a:r>
                        <a:rPr lang="en-IN" dirty="0"/>
                        <a:t>      Y Harshitha Reddy</a:t>
                      </a:r>
                    </a:p>
                  </a:txBody>
                  <a:tcPr/>
                </a:tc>
                <a:tc>
                  <a:txBody>
                    <a:bodyPr/>
                    <a:lstStyle/>
                    <a:p>
                      <a:r>
                        <a:rPr lang="en-IN" dirty="0"/>
                        <a:t>       20211CBC0039</a:t>
                      </a:r>
                    </a:p>
                  </a:txBody>
                  <a:tcPr/>
                </a:tc>
                <a:extLst>
                  <a:ext uri="{0D108BD9-81ED-4DB2-BD59-A6C34878D82A}">
                    <a16:rowId xmlns:a16="http://schemas.microsoft.com/office/drawing/2014/main" val="3798257307"/>
                  </a:ext>
                </a:extLst>
              </a:tr>
            </a:tbl>
          </a:graphicData>
        </a:graphic>
      </p:graphicFrame>
      <p:sp>
        <p:nvSpPr>
          <p:cNvPr id="8" name="TextBox 7">
            <a:extLst>
              <a:ext uri="{FF2B5EF4-FFF2-40B4-BE49-F238E27FC236}">
                <a16:creationId xmlns:a16="http://schemas.microsoft.com/office/drawing/2014/main" id="{6A1F2DB1-26B6-30C6-CCB9-45F7AC115DE5}"/>
              </a:ext>
            </a:extLst>
          </p:cNvPr>
          <p:cNvSpPr txBox="1"/>
          <p:nvPr/>
        </p:nvSpPr>
        <p:spPr>
          <a:xfrm>
            <a:off x="413469" y="4528035"/>
            <a:ext cx="11537344" cy="2031325"/>
          </a:xfrm>
          <a:prstGeom prst="rect">
            <a:avLst/>
          </a:prstGeom>
          <a:noFill/>
        </p:spPr>
        <p:txBody>
          <a:bodyPr wrap="square">
            <a:spAutoFit/>
          </a:bodyPr>
          <a:lstStyle/>
          <a:p>
            <a:pPr>
              <a:buClr>
                <a:srgbClr val="17365D"/>
              </a:buClr>
              <a:buSzPct val="100000"/>
            </a:pPr>
            <a:r>
              <a:rPr lang="en-US" sz="1800" b="1" i="0" u="none" strike="noStrike" cap="none" dirty="0">
                <a:solidFill>
                  <a:srgbClr val="0070C0"/>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latin typeface="Times New Roman" panose="02020603050405020304" pitchFamily="18" charset="0"/>
                <a:ea typeface="Cambria" panose="02040503050406030204" pitchFamily="18" charset="0"/>
                <a:cs typeface="Times New Roman" panose="02020603050405020304" pitchFamily="18" charset="0"/>
                <a:sym typeface="Verdana"/>
              </a:rPr>
              <a:t>CSE(Blockchain)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Ms.Arshiya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Lubna</a:t>
            </a:r>
            <a:r>
              <a:rPr lang="en-US" sz="1800" b="1" i="0" u="none" strike="noStrike" cap="none" dirty="0">
                <a:latin typeface="Times New Roman" panose="02020603050405020304" pitchFamily="18" charset="0"/>
                <a:ea typeface="Cambria" panose="02040503050406030204" pitchFamily="18" charset="0"/>
                <a:cs typeface="Times New Roman" panose="02020603050405020304" pitchFamily="18" charset="0"/>
                <a:sym typeface="Verdana"/>
              </a:rPr>
              <a:t>                                                                                                 </a:t>
            </a:r>
          </a:p>
          <a:p>
            <a:pPr>
              <a:buClr>
                <a:srgbClr val="17365D"/>
              </a:buClr>
              <a:buSzPct val="100000"/>
            </a:pPr>
            <a:r>
              <a:rPr lang="en-US" sz="1800" b="1" dirty="0">
                <a:solidFill>
                  <a:srgbClr val="0070C0"/>
                </a:solidFill>
                <a:latin typeface="Cambria" panose="02040503050406030204" pitchFamily="18" charset="0"/>
                <a:ea typeface="Cambria" panose="02040503050406030204" pitchFamily="18" charset="0"/>
                <a:cs typeface="Verdana"/>
                <a:sym typeface="Verdana"/>
              </a:rPr>
              <a:t>Name of the </a:t>
            </a:r>
            <a:r>
              <a:rPr lang="en-US" sz="1800" b="1" dirty="0" err="1">
                <a:solidFill>
                  <a:srgbClr val="0070C0"/>
                </a:solidFill>
                <a:latin typeface="Cambria" panose="02040503050406030204" pitchFamily="18" charset="0"/>
                <a:ea typeface="Cambria" panose="02040503050406030204" pitchFamily="18" charset="0"/>
                <a:cs typeface="Verdana"/>
                <a:sym typeface="Verdana"/>
              </a:rPr>
              <a:t>HoD</a:t>
            </a:r>
            <a:r>
              <a:rPr lang="en-US" sz="1800" b="1" dirty="0">
                <a:latin typeface="Cambria" panose="02040503050406030204" pitchFamily="18" charset="0"/>
                <a:ea typeface="Cambria" panose="02040503050406030204" pitchFamily="18" charset="0"/>
                <a:cs typeface="Verdana"/>
                <a:sym typeface="Verdana"/>
              </a:rPr>
              <a:t>: </a:t>
            </a:r>
            <a:r>
              <a:rPr lang="en-US" sz="1800" b="1" dirty="0" err="1">
                <a:latin typeface="Times New Roman" panose="02020603050405020304" pitchFamily="18" charset="0"/>
                <a:ea typeface="Cambria" panose="02040503050406030204" pitchFamily="18" charset="0"/>
                <a:cs typeface="Times New Roman" panose="02020603050405020304" pitchFamily="18" charset="0"/>
                <a:sym typeface="Verdana"/>
              </a:rPr>
              <a:t>Dr.Pravintha</a:t>
            </a:r>
            <a:r>
              <a:rPr lang="en-US" sz="1800" b="1" dirty="0">
                <a:latin typeface="Times New Roman" panose="02020603050405020304" pitchFamily="18" charset="0"/>
                <a:ea typeface="Cambria" panose="02040503050406030204" pitchFamily="18" charset="0"/>
                <a:cs typeface="Times New Roman" panose="02020603050405020304" pitchFamily="18" charset="0"/>
                <a:sym typeface="Verdana"/>
              </a:rPr>
              <a:t> Raja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Assistant Professor</a:t>
            </a:r>
            <a:r>
              <a:rPr lang="en-US" sz="1800" b="1" dirty="0">
                <a:latin typeface="Times New Roman" panose="02020603050405020304" pitchFamily="18" charset="0"/>
                <a:ea typeface="Cambria" panose="02040503050406030204" pitchFamily="18" charset="0"/>
                <a:cs typeface="Times New Roman" panose="02020603050405020304" pitchFamily="18" charset="0"/>
                <a:sym typeface="Verdana"/>
              </a:rPr>
              <a:t>                                                       </a:t>
            </a:r>
          </a:p>
          <a:p>
            <a:pPr>
              <a:buClr>
                <a:srgbClr val="17365D"/>
              </a:buClr>
              <a:buSzPct val="100000"/>
            </a:pPr>
            <a:r>
              <a:rPr lang="en-US" sz="1800" b="1" i="0" u="none" strike="noStrike" cap="none" dirty="0">
                <a:solidFill>
                  <a:srgbClr val="0070C0"/>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latin typeface="Times New Roman" panose="02020603050405020304" pitchFamily="18" charset="0"/>
                <a:ea typeface="Cambria" panose="02040503050406030204" pitchFamily="18" charset="0"/>
                <a:cs typeface="Times New Roman" panose="02020603050405020304" pitchFamily="18" charset="0"/>
                <a:sym typeface="Verdana"/>
              </a:rPr>
              <a:t>Ms. Suma NG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School of Computer Science and Engineering</a:t>
            </a:r>
            <a:endParaRPr lang="en-US" sz="1800" b="1" i="0" u="none" strike="noStrike" cap="none" dirty="0">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1800" b="1" dirty="0">
                <a:solidFill>
                  <a:srgbClr val="0070C0"/>
                </a:solidFill>
                <a:latin typeface="Cambria" panose="02040503050406030204" pitchFamily="18" charset="0"/>
                <a:ea typeface="Cambria" panose="02040503050406030204" pitchFamily="18" charset="0"/>
                <a:cs typeface="Verdana"/>
                <a:sym typeface="Verdana"/>
              </a:rPr>
              <a:t>Name of the School Project Coordinators:</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Sampath A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K                                   Presidency University</a:t>
            </a:r>
            <a:r>
              <a:rPr lang="en-US" sz="1800" b="1" i="0" u="none" strike="noStrike" cap="none" dirty="0">
                <a:latin typeface="Times New Roman" panose="02020603050405020304" pitchFamily="18" charset="0"/>
                <a:ea typeface="Cambria" panose="02040503050406030204" pitchFamily="18" charset="0"/>
                <a:cs typeface="Times New Roman" panose="02020603050405020304" pitchFamily="18" charset="0"/>
                <a:sym typeface="Verdana"/>
              </a:rPr>
              <a:t> </a:t>
            </a:r>
            <a:endPar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AbdulKhadar</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 Mr. Md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Ziaur</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Rahman</a:t>
            </a:r>
          </a:p>
          <a:p>
            <a:pPr lvl="0">
              <a:buClr>
                <a:srgbClr val="17365D"/>
              </a:buClr>
              <a:buSzPct val="100000"/>
            </a:pPr>
            <a:endPar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endPar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extLst>
      <p:ext uri="{BB962C8B-B14F-4D97-AF65-F5344CB8AC3E}">
        <p14:creationId xmlns:p14="http://schemas.microsoft.com/office/powerpoint/2010/main" val="2982776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92A1C-EC3C-95A5-0145-A10346DA1349}"/>
              </a:ext>
            </a:extLst>
          </p:cNvPr>
          <p:cNvSpPr>
            <a:spLocks noGrp="1"/>
          </p:cNvSpPr>
          <p:nvPr>
            <p:ph type="title"/>
          </p:nvPr>
        </p:nvSpPr>
        <p:spPr/>
        <p:txBody>
          <a:bodyPr/>
          <a:lstStyle/>
          <a:p>
            <a:r>
              <a:rPr lang="en-US" b="1" dirty="0">
                <a:solidFill>
                  <a:srgbClr val="374151"/>
                </a:solidFill>
                <a:latin typeface="Söhne"/>
              </a:rPr>
              <a:t>Problem Statement Number :</a:t>
            </a:r>
            <a:r>
              <a:rPr lang="en-IN" dirty="0"/>
              <a:t> </a:t>
            </a:r>
            <a:r>
              <a:rPr lang="en-IN" b="1" dirty="0">
                <a:latin typeface="Times New Roman" panose="02020603050405020304" pitchFamily="18" charset="0"/>
                <a:cs typeface="Times New Roman" panose="02020603050405020304" pitchFamily="18" charset="0"/>
              </a:rPr>
              <a:t>PSCS215 </a:t>
            </a:r>
          </a:p>
        </p:txBody>
      </p:sp>
      <p:sp>
        <p:nvSpPr>
          <p:cNvPr id="5" name="Content Placeholder 4">
            <a:extLst>
              <a:ext uri="{FF2B5EF4-FFF2-40B4-BE49-F238E27FC236}">
                <a16:creationId xmlns:a16="http://schemas.microsoft.com/office/drawing/2014/main" id="{5FE72B62-7C4E-E31F-2BB4-4E19CF1734FD}"/>
              </a:ext>
            </a:extLst>
          </p:cNvPr>
          <p:cNvSpPr>
            <a:spLocks noGrp="1"/>
          </p:cNvSpPr>
          <p:nvPr>
            <p:ph idx="1"/>
          </p:nvPr>
        </p:nvSpPr>
        <p:spPr/>
        <p:txBody>
          <a:bodyPr/>
          <a:lstStyle/>
          <a:p>
            <a:r>
              <a:rPr lang="en-US" sz="2400" b="1" dirty="0">
                <a:latin typeface="Times New Roman" panose="02020603050405020304" pitchFamily="18" charset="0"/>
                <a:ea typeface="Cambria" panose="02040503050406030204" pitchFamily="18" charset="0"/>
                <a:cs typeface="Times New Roman" panose="02020603050405020304" pitchFamily="18" charset="0"/>
              </a:rPr>
              <a:t>Organization:</a:t>
            </a:r>
            <a:r>
              <a:rPr lang="en-US" dirty="0">
                <a:latin typeface="Cambria" panose="02040503050406030204" pitchFamily="18" charset="0"/>
                <a:ea typeface="Cambria" panose="02040503050406030204" pitchFamily="18" charset="0"/>
              </a:rPr>
              <a:t> </a:t>
            </a:r>
            <a:r>
              <a:rPr lang="en-US" dirty="0">
                <a:latin typeface="Times New Roman" panose="02020603050405020304" pitchFamily="18" charset="0"/>
                <a:cs typeface="Times New Roman" panose="02020603050405020304" pitchFamily="18" charset="0"/>
              </a:rPr>
              <a:t>Robert Bosch Engineering &amp; Business Solutions Private Limited.</a:t>
            </a:r>
          </a:p>
          <a:p>
            <a:r>
              <a:rPr lang="en-US" sz="2400" b="1" dirty="0">
                <a:latin typeface="Times New Roman" panose="02020603050405020304" pitchFamily="18" charset="0"/>
                <a:ea typeface="Cambria" panose="02040503050406030204" pitchFamily="18" charset="0"/>
                <a:cs typeface="Times New Roman" panose="02020603050405020304" pitchFamily="18" charset="0"/>
              </a:rPr>
              <a:t>Category       : </a:t>
            </a:r>
            <a:r>
              <a:rPr lang="en-US" dirty="0">
                <a:latin typeface="Times New Roman" panose="02020603050405020304" pitchFamily="18" charset="0"/>
                <a:ea typeface="Cambria" panose="02040503050406030204" pitchFamily="18" charset="0"/>
                <a:cs typeface="Times New Roman" panose="02020603050405020304" pitchFamily="18" charset="0"/>
              </a:rPr>
              <a:t>Software.</a:t>
            </a:r>
          </a:p>
          <a:p>
            <a:r>
              <a:rPr lang="en-US" sz="2400" b="1" dirty="0">
                <a:latin typeface="Times New Roman" panose="02020603050405020304" pitchFamily="18" charset="0"/>
                <a:ea typeface="Cambria" panose="02040503050406030204" pitchFamily="18" charset="0"/>
                <a:cs typeface="Times New Roman" panose="02020603050405020304" pitchFamily="18" charset="0"/>
              </a:rPr>
              <a:t>Problem Description: </a:t>
            </a:r>
            <a:r>
              <a:rPr lang="en-US" dirty="0">
                <a:latin typeface="Times New Roman" panose="02020603050405020304" pitchFamily="18" charset="0"/>
                <a:cs typeface="Times New Roman" panose="02020603050405020304" pitchFamily="18" charset="0"/>
              </a:rPr>
              <a:t>The idea is to track the subsidy as it leaves the Government till the end user receives the subsidy. Our blockchain called </a:t>
            </a:r>
            <a:r>
              <a:rPr lang="en-US" dirty="0" err="1">
                <a:latin typeface="Times New Roman" panose="02020603050405020304" pitchFamily="18" charset="0"/>
                <a:cs typeface="Times New Roman" panose="02020603050405020304" pitchFamily="18" charset="0"/>
              </a:rPr>
              <a:t>SubChain</a:t>
            </a:r>
            <a:r>
              <a:rPr lang="en-US" dirty="0">
                <a:latin typeface="Times New Roman" panose="02020603050405020304" pitchFamily="18" charset="0"/>
                <a:cs typeface="Times New Roman" panose="02020603050405020304" pitchFamily="18" charset="0"/>
              </a:rPr>
              <a:t> or Subsidy Chain allows different entities like Users, Government Ministries to track the status of subsidy and check uneven delays with in this process. The government can then take necessary action based on the report generated by our app which is connected to the blockchain. This will not only eliminate delays caused due to humans for illegal purposes but also eliminate reduction of subsidy money as data once entered into blockchain can never be changed.</a:t>
            </a:r>
          </a:p>
          <a:p>
            <a:r>
              <a:rPr lang="en-US" sz="2400" b="1" dirty="0">
                <a:latin typeface="Times New Roman" panose="02020603050405020304" pitchFamily="18" charset="0"/>
                <a:ea typeface="Cambria" panose="02040503050406030204" pitchFamily="18" charset="0"/>
                <a:cs typeface="Times New Roman" panose="02020603050405020304" pitchFamily="18" charset="0"/>
              </a:rPr>
              <a:t>Difficulty Level   : </a:t>
            </a:r>
            <a:r>
              <a:rPr lang="en-US" dirty="0">
                <a:latin typeface="Times New Roman" panose="02020603050405020304" pitchFamily="18" charset="0"/>
                <a:ea typeface="Cambria" panose="02040503050406030204" pitchFamily="18" charset="0"/>
                <a:cs typeface="Times New Roman" panose="02020603050405020304" pitchFamily="18" charset="0"/>
              </a:rPr>
              <a:t>Medium.</a:t>
            </a: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1421408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FDE44-F49B-4661-485F-36F77D8BB318}"/>
              </a:ext>
            </a:extLst>
          </p:cNvPr>
          <p:cNvSpPr>
            <a:spLocks noGrp="1"/>
          </p:cNvSpPr>
          <p:nvPr>
            <p:ph type="title"/>
          </p:nvPr>
        </p:nvSpPr>
        <p:spPr/>
        <p:txBody>
          <a:bodyPr/>
          <a:lstStyle/>
          <a:p>
            <a:r>
              <a:rPr lang="en-IN" dirty="0" err="1">
                <a:latin typeface="Times New Roman" panose="02020603050405020304" pitchFamily="18" charset="0"/>
                <a:cs typeface="Times New Roman" panose="02020603050405020304" pitchFamily="18" charset="0"/>
              </a:rPr>
              <a:t>Github</a:t>
            </a:r>
            <a:r>
              <a:rPr lang="en-IN" dirty="0">
                <a:latin typeface="Times New Roman" panose="02020603050405020304" pitchFamily="18" charset="0"/>
                <a:cs typeface="Times New Roman" panose="02020603050405020304" pitchFamily="18" charset="0"/>
              </a:rPr>
              <a:t> Link</a:t>
            </a:r>
          </a:p>
        </p:txBody>
      </p:sp>
      <p:sp>
        <p:nvSpPr>
          <p:cNvPr id="3" name="Content Placeholder 2">
            <a:extLst>
              <a:ext uri="{FF2B5EF4-FFF2-40B4-BE49-F238E27FC236}">
                <a16:creationId xmlns:a16="http://schemas.microsoft.com/office/drawing/2014/main" id="{95CE1277-8278-1CBF-4C2F-E740FA2CFB25}"/>
              </a:ext>
            </a:extLst>
          </p:cNvPr>
          <p:cNvSpPr>
            <a:spLocks noGrp="1"/>
          </p:cNvSpPr>
          <p:nvPr>
            <p:ph idx="1"/>
          </p:nvPr>
        </p:nvSpPr>
        <p:spPr/>
        <p:txBody>
          <a:bodyPr/>
          <a:lstStyle/>
          <a:p>
            <a:r>
              <a:rPr lang="en-IN" dirty="0"/>
              <a:t>https://github.com/Dyamalli/Technology-Stack-for-Subsidy-Distribution-Application</a:t>
            </a:r>
          </a:p>
        </p:txBody>
      </p:sp>
    </p:spTree>
    <p:extLst>
      <p:ext uri="{BB962C8B-B14F-4D97-AF65-F5344CB8AC3E}">
        <p14:creationId xmlns:p14="http://schemas.microsoft.com/office/powerpoint/2010/main" val="2044150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609E0-089B-D190-6D1A-625F68287B83}"/>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a:t>
            </a:r>
            <a:endParaRPr lang="en-IN" dirty="0"/>
          </a:p>
        </p:txBody>
      </p:sp>
      <p:sp>
        <p:nvSpPr>
          <p:cNvPr id="6" name="Content Placeholder 5">
            <a:extLst>
              <a:ext uri="{FF2B5EF4-FFF2-40B4-BE49-F238E27FC236}">
                <a16:creationId xmlns:a16="http://schemas.microsoft.com/office/drawing/2014/main" id="{3B06802B-9702-6493-7679-E6A38F8E2D0D}"/>
              </a:ext>
            </a:extLst>
          </p:cNvPr>
          <p:cNvSpPr>
            <a:spLocks noGrp="1"/>
          </p:cNvSpPr>
          <p:nvPr>
            <p:ph idx="1"/>
          </p:nvPr>
        </p:nvSpPr>
        <p:spPr>
          <a:xfrm>
            <a:off x="1208598" y="1845733"/>
            <a:ext cx="9947082" cy="4364235"/>
          </a:xfrm>
        </p:spPr>
        <p:txBody>
          <a:bodyPr>
            <a:normAutofit fontScale="55000" lnSpcReduction="20000"/>
          </a:bodyPr>
          <a:lstStyle/>
          <a:p>
            <a:r>
              <a:rPr lang="en-US" sz="3600" b="1" dirty="0">
                <a:latin typeface="Times New Roman" panose="02020603050405020304" pitchFamily="18" charset="0"/>
                <a:ea typeface="Cambria" panose="02040503050406030204" pitchFamily="18" charset="0"/>
                <a:cs typeface="Times New Roman" panose="02020603050405020304" pitchFamily="18" charset="0"/>
              </a:rPr>
              <a:t>Technology Stack Components:</a:t>
            </a:r>
          </a:p>
          <a:p>
            <a:pPr marL="342900" lvl="0" indent="-342900">
              <a:lnSpc>
                <a:spcPct val="115000"/>
              </a:lnSpc>
              <a:spcAft>
                <a:spcPts val="700"/>
              </a:spcAft>
              <a:buFont typeface="+mj-lt"/>
              <a:buAutoNum type="arabicPeriod"/>
              <a:tabLst>
                <a:tab pos="450215" algn="l"/>
              </a:tabLst>
            </a:pPr>
            <a:r>
              <a:rPr lang="en-IN" sz="3300" kern="100" dirty="0">
                <a:solidFill>
                  <a:schemeClr val="tx1"/>
                </a:solidFill>
                <a:effectLst/>
                <a:latin typeface="Times New Roman" panose="02020603050405020304" pitchFamily="18" charset="0"/>
                <a:ea typeface="Noto Serif CJK SC"/>
                <a:cs typeface="Times New Roman" panose="02020603050405020304" pitchFamily="18" charset="0"/>
              </a:rPr>
              <a:t>Frontend (User Interface)</a:t>
            </a:r>
          </a:p>
          <a:p>
            <a:pPr marL="342900" lvl="0" indent="-342900">
              <a:lnSpc>
                <a:spcPct val="115000"/>
              </a:lnSpc>
              <a:spcAft>
                <a:spcPts val="700"/>
              </a:spcAft>
              <a:buFont typeface="+mj-lt"/>
              <a:buAutoNum type="arabicPeriod"/>
              <a:tabLst>
                <a:tab pos="450215" algn="l"/>
              </a:tabLst>
            </a:pPr>
            <a:r>
              <a:rPr lang="en-IN" sz="3300" kern="100" dirty="0">
                <a:effectLst/>
                <a:latin typeface="Times New Roman" panose="02020603050405020304" pitchFamily="18" charset="0"/>
                <a:ea typeface="Noto Serif CJK SC"/>
                <a:cs typeface="Times New Roman" panose="02020603050405020304" pitchFamily="18" charset="0"/>
              </a:rPr>
              <a:t>Backend (Smart Contracts)</a:t>
            </a:r>
          </a:p>
          <a:p>
            <a:pPr marL="342900" lvl="0" indent="-342900">
              <a:lnSpc>
                <a:spcPct val="115000"/>
              </a:lnSpc>
              <a:spcAft>
                <a:spcPts val="700"/>
              </a:spcAft>
              <a:buFont typeface="+mj-lt"/>
              <a:buAutoNum type="arabicPeriod"/>
              <a:tabLst>
                <a:tab pos="450215" algn="l"/>
              </a:tabLst>
            </a:pPr>
            <a:r>
              <a:rPr lang="en-IN" sz="3300" kern="100" dirty="0">
                <a:effectLst/>
                <a:latin typeface="Times New Roman" panose="02020603050405020304" pitchFamily="18" charset="0"/>
                <a:ea typeface="Noto Serif CJK SC"/>
                <a:cs typeface="Times New Roman" panose="02020603050405020304" pitchFamily="18" charset="0"/>
              </a:rPr>
              <a:t>Storage</a:t>
            </a:r>
          </a:p>
          <a:p>
            <a:pPr marL="342900" lvl="0" indent="-342900">
              <a:lnSpc>
                <a:spcPct val="115000"/>
              </a:lnSpc>
              <a:spcAft>
                <a:spcPts val="700"/>
              </a:spcAft>
              <a:buFont typeface="+mj-lt"/>
              <a:buAutoNum type="arabicPeriod"/>
              <a:tabLst>
                <a:tab pos="450215" algn="l"/>
              </a:tabLst>
            </a:pPr>
            <a:r>
              <a:rPr lang="en-IN" sz="3300" kern="100" dirty="0">
                <a:effectLst/>
                <a:latin typeface="Times New Roman" panose="02020603050405020304" pitchFamily="18" charset="0"/>
                <a:ea typeface="Noto Serif CJK SC"/>
                <a:cs typeface="Times New Roman" panose="02020603050405020304" pitchFamily="18" charset="0"/>
              </a:rPr>
              <a:t>Blockchain Node</a:t>
            </a:r>
          </a:p>
          <a:p>
            <a:pPr marL="342900" lvl="0" indent="-342900">
              <a:lnSpc>
                <a:spcPct val="115000"/>
              </a:lnSpc>
              <a:spcAft>
                <a:spcPts val="700"/>
              </a:spcAft>
              <a:buFont typeface="+mj-lt"/>
              <a:buAutoNum type="arabicPeriod"/>
              <a:tabLst>
                <a:tab pos="450215" algn="l"/>
              </a:tabLst>
            </a:pPr>
            <a:r>
              <a:rPr lang="en-IN" sz="3300" kern="100" dirty="0">
                <a:effectLst/>
                <a:latin typeface="Times New Roman" panose="02020603050405020304" pitchFamily="18" charset="0"/>
                <a:ea typeface="Noto Serif CJK SC"/>
                <a:cs typeface="Times New Roman" panose="02020603050405020304" pitchFamily="18" charset="0"/>
              </a:rPr>
              <a:t>Wallet Integration</a:t>
            </a:r>
          </a:p>
          <a:p>
            <a:pPr marL="342900" lvl="0" indent="-342900">
              <a:lnSpc>
                <a:spcPct val="115000"/>
              </a:lnSpc>
              <a:spcAft>
                <a:spcPts val="700"/>
              </a:spcAft>
              <a:buFont typeface="+mj-lt"/>
              <a:buAutoNum type="arabicPeriod"/>
              <a:tabLst>
                <a:tab pos="450215" algn="l"/>
              </a:tabLst>
            </a:pPr>
            <a:r>
              <a:rPr lang="en-IN" sz="3300" kern="100" dirty="0">
                <a:effectLst/>
                <a:latin typeface="Times New Roman" panose="02020603050405020304" pitchFamily="18" charset="0"/>
                <a:ea typeface="Noto Serif CJK SC"/>
                <a:cs typeface="Times New Roman" panose="02020603050405020304" pitchFamily="18" charset="0"/>
              </a:rPr>
              <a:t>Consensus Mechanism</a:t>
            </a:r>
          </a:p>
          <a:p>
            <a:pPr marL="342900" lvl="0" indent="-342900">
              <a:lnSpc>
                <a:spcPct val="115000"/>
              </a:lnSpc>
              <a:spcAft>
                <a:spcPts val="700"/>
              </a:spcAft>
              <a:buFont typeface="+mj-lt"/>
              <a:buAutoNum type="arabicPeriod"/>
              <a:tabLst>
                <a:tab pos="450215" algn="l"/>
              </a:tabLst>
            </a:pPr>
            <a:r>
              <a:rPr lang="en-IN" sz="3300" kern="100" dirty="0">
                <a:effectLst/>
                <a:latin typeface="Times New Roman" panose="02020603050405020304" pitchFamily="18" charset="0"/>
                <a:ea typeface="Noto Serif CJK SC"/>
                <a:cs typeface="Times New Roman" panose="02020603050405020304" pitchFamily="18" charset="0"/>
              </a:rPr>
              <a:t>Security</a:t>
            </a:r>
          </a:p>
          <a:p>
            <a:pPr marL="342900" lvl="0" indent="-342900">
              <a:lnSpc>
                <a:spcPct val="115000"/>
              </a:lnSpc>
              <a:spcAft>
                <a:spcPts val="700"/>
              </a:spcAft>
              <a:buFont typeface="+mj-lt"/>
              <a:buAutoNum type="arabicPeriod"/>
              <a:tabLst>
                <a:tab pos="450215" algn="l"/>
              </a:tabLst>
            </a:pPr>
            <a:r>
              <a:rPr lang="en-IN" sz="3300" kern="100" dirty="0">
                <a:effectLst/>
                <a:latin typeface="Times New Roman" panose="02020603050405020304" pitchFamily="18" charset="0"/>
                <a:ea typeface="Noto Serif CJK SC"/>
                <a:cs typeface="Times New Roman" panose="02020603050405020304" pitchFamily="18" charset="0"/>
              </a:rPr>
              <a:t>Testing &amp; Monitoring</a:t>
            </a:r>
          </a:p>
          <a:p>
            <a:endParaRPr lang="en-US"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989149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5B7B7-0510-6621-02A3-09CC55784B8A}"/>
              </a:ext>
            </a:extLst>
          </p:cNvPr>
          <p:cNvSpPr>
            <a:spLocks noGrp="1"/>
          </p:cNvSpPr>
          <p:nvPr>
            <p:ph type="title"/>
          </p:nvPr>
        </p:nvSpPr>
        <p:spPr>
          <a:xfrm>
            <a:off x="1066800" y="1400639"/>
            <a:ext cx="10058400" cy="890190"/>
          </a:xfrm>
        </p:spPr>
        <p:txBody>
          <a:bodyPr>
            <a:normAutofit fontScale="90000"/>
          </a:bodyPr>
          <a:lstStyle/>
          <a:p>
            <a:r>
              <a:rPr lang="en-IN" sz="3100" b="1" dirty="0">
                <a:effectLst/>
                <a:latin typeface="Times New Roman" panose="02020603050405020304" pitchFamily="18" charset="0"/>
                <a:ea typeface="Noto Serif CJK SC"/>
                <a:cs typeface="Times New Roman" panose="02020603050405020304" pitchFamily="18" charset="0"/>
              </a:rPr>
              <a:t>Software </a:t>
            </a:r>
            <a:r>
              <a:rPr lang="en-IN" sz="3100" b="1" kern="100" dirty="0">
                <a:effectLst/>
                <a:latin typeface="Times New Roman" panose="02020603050405020304" pitchFamily="18" charset="0"/>
                <a:ea typeface="Noto Serif CJK SC"/>
                <a:cs typeface="Times New Roman" panose="02020603050405020304" pitchFamily="18" charset="0"/>
              </a:rPr>
              <a:t>Requirements for Subsidy Distribution Application</a:t>
            </a:r>
            <a:br>
              <a:rPr lang="en-IN" sz="1800" kern="100" dirty="0">
                <a:effectLst/>
                <a:latin typeface="Liberation Serif"/>
                <a:ea typeface="Noto Serif CJK SC"/>
                <a:cs typeface="Lohit Devanagari"/>
              </a:rPr>
            </a:br>
            <a:endParaRPr lang="en-IN" dirty="0"/>
          </a:p>
        </p:txBody>
      </p:sp>
      <p:sp>
        <p:nvSpPr>
          <p:cNvPr id="10" name="Content Placeholder 9">
            <a:extLst>
              <a:ext uri="{FF2B5EF4-FFF2-40B4-BE49-F238E27FC236}">
                <a16:creationId xmlns:a16="http://schemas.microsoft.com/office/drawing/2014/main" id="{86D9DB81-E6D8-FDE0-42D0-7D3E392CB186}"/>
              </a:ext>
            </a:extLst>
          </p:cNvPr>
          <p:cNvSpPr>
            <a:spLocks noGrp="1"/>
          </p:cNvSpPr>
          <p:nvPr>
            <p:ph idx="1"/>
          </p:nvPr>
        </p:nvSpPr>
        <p:spPr/>
        <p:txBody>
          <a:bodyPr/>
          <a:lstStyle/>
          <a:p>
            <a:r>
              <a:rPr lang="en-US" dirty="0"/>
              <a:t>•    </a:t>
            </a:r>
            <a:r>
              <a:rPr lang="en-US" b="1" dirty="0">
                <a:latin typeface="Times New Roman" panose="02020603050405020304" pitchFamily="18" charset="0"/>
                <a:cs typeface="Times New Roman" panose="02020603050405020304" pitchFamily="18" charset="0"/>
              </a:rPr>
              <a:t>Operating System </a:t>
            </a:r>
            <a:r>
              <a:rPr lang="en-IN" sz="1800" b="1" kern="100" dirty="0">
                <a:effectLst/>
                <a:latin typeface="Times New Roman" panose="02020603050405020304" pitchFamily="18" charset="0"/>
                <a:ea typeface="Noto Serif CJK SC"/>
                <a:cs typeface="Times New Roman" panose="02020603050405020304" pitchFamily="18" charset="0"/>
              </a:rPr>
              <a:t>:</a:t>
            </a:r>
            <a:r>
              <a:rPr lang="en-IN" sz="1800" kern="100" dirty="0">
                <a:effectLst/>
                <a:latin typeface="Times New Roman" panose="02020603050405020304" pitchFamily="18" charset="0"/>
                <a:ea typeface="Noto Serif CJK SC"/>
                <a:cs typeface="Times New Roman" panose="02020603050405020304" pitchFamily="18" charset="0"/>
              </a:rPr>
              <a:t>Windows 10/11, macOS, Linux (Ubuntu 20.04+)</a:t>
            </a:r>
            <a:r>
              <a:rPr lang="en-US" dirty="0">
                <a:latin typeface="Times New Roman" panose="02020603050405020304" pitchFamily="18" charset="0"/>
                <a:cs typeface="Times New Roman" panose="02020603050405020304" pitchFamily="18" charset="0"/>
              </a:rPr>
              <a:t> .                                                                             </a:t>
            </a:r>
          </a:p>
          <a:p>
            <a:pPr marL="0" indent="0">
              <a:buNone/>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Development Tools </a:t>
            </a:r>
            <a:r>
              <a:rPr lang="en-US" dirty="0">
                <a:latin typeface="Times New Roman" panose="02020603050405020304" pitchFamily="18" charset="0"/>
                <a:cs typeface="Times New Roman" panose="02020603050405020304" pitchFamily="18" charset="0"/>
              </a:rPr>
              <a:t>:</a:t>
            </a:r>
            <a:r>
              <a:rPr lang="en-IN" sz="1800" kern="100" dirty="0">
                <a:effectLst/>
                <a:latin typeface="Times New Roman" panose="02020603050405020304" pitchFamily="18" charset="0"/>
                <a:ea typeface="Noto Serif CJK SC"/>
                <a:cs typeface="Times New Roman" panose="02020603050405020304" pitchFamily="18" charset="0"/>
              </a:rPr>
              <a:t> Node.js (v14+), </a:t>
            </a:r>
            <a:r>
              <a:rPr lang="en-IN" sz="1800" kern="100" dirty="0" err="1">
                <a:effectLst/>
                <a:latin typeface="Times New Roman" panose="02020603050405020304" pitchFamily="18" charset="0"/>
                <a:ea typeface="Noto Serif CJK SC"/>
                <a:cs typeface="Times New Roman" panose="02020603050405020304" pitchFamily="18" charset="0"/>
              </a:rPr>
              <a:t>npm</a:t>
            </a:r>
            <a:r>
              <a:rPr lang="en-IN" sz="1800" kern="100" dirty="0">
                <a:effectLst/>
                <a:latin typeface="Times New Roman" panose="02020603050405020304" pitchFamily="18" charset="0"/>
                <a:ea typeface="Noto Serif CJK SC"/>
                <a:cs typeface="Times New Roman" panose="02020603050405020304" pitchFamily="18" charset="0"/>
              </a:rPr>
              <a:t>/yarn , Truffle / Hardhat,</a:t>
            </a:r>
            <a:r>
              <a:rPr lang="en-IN" sz="1800" dirty="0">
                <a:effectLst/>
                <a:latin typeface="Times New Roman" panose="02020603050405020304" pitchFamily="18" charset="0"/>
                <a:ea typeface="Noto Serif CJK SC"/>
                <a:cs typeface="Times New Roman" panose="02020603050405020304" pitchFamily="18" charset="0"/>
              </a:rPr>
              <a:t> Ganache , </a:t>
            </a:r>
            <a:r>
              <a:rPr lang="en-IN" sz="1800" dirty="0" err="1">
                <a:effectLst/>
                <a:latin typeface="Times New Roman" panose="02020603050405020304" pitchFamily="18" charset="0"/>
                <a:ea typeface="Noto Serif CJK SC"/>
                <a:cs typeface="Times New Roman" panose="02020603050405020304" pitchFamily="18" charset="0"/>
              </a:rPr>
              <a:t>Metamask</a:t>
            </a:r>
            <a:r>
              <a:rPr lang="en-IN" sz="1800" dirty="0">
                <a:effectLst/>
                <a:latin typeface="Times New Roman" panose="02020603050405020304" pitchFamily="18" charset="0"/>
                <a:ea typeface="Noto Serif CJK SC"/>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Browser</a:t>
            </a:r>
            <a:r>
              <a:rPr lang="en-US" dirty="0">
                <a:latin typeface="Times New Roman" panose="02020603050405020304" pitchFamily="18" charset="0"/>
                <a:cs typeface="Times New Roman" panose="02020603050405020304" pitchFamily="18" charset="0"/>
              </a:rPr>
              <a:t> </a:t>
            </a:r>
            <a:r>
              <a:rPr lang="en-IN" sz="1800" b="1" dirty="0">
                <a:effectLst/>
                <a:latin typeface="Times New Roman" panose="02020603050405020304" pitchFamily="18" charset="0"/>
                <a:ea typeface="Noto Serif CJK SC"/>
                <a:cs typeface="Times New Roman" panose="02020603050405020304" pitchFamily="18" charset="0"/>
              </a:rPr>
              <a:t> :</a:t>
            </a:r>
            <a:r>
              <a:rPr lang="en-IN" sz="1800" dirty="0">
                <a:effectLst/>
                <a:latin typeface="Times New Roman" panose="02020603050405020304" pitchFamily="18" charset="0"/>
                <a:ea typeface="Noto Serif CJK SC"/>
                <a:cs typeface="Times New Roman" panose="02020603050405020304" pitchFamily="18" charset="0"/>
              </a:rPr>
              <a:t> Chrome, Firefox (with MetaMask)</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Blockchain Libraries :</a:t>
            </a:r>
            <a:r>
              <a:rPr lang="en-IN" sz="1800" b="1" kern="100" dirty="0">
                <a:effectLst/>
                <a:latin typeface="Times New Roman" panose="02020603050405020304" pitchFamily="18" charset="0"/>
                <a:ea typeface="Noto Serif CJK SC"/>
                <a:cs typeface="Times New Roman" panose="02020603050405020304" pitchFamily="18" charset="0"/>
              </a:rPr>
              <a:t> </a:t>
            </a:r>
            <a:r>
              <a:rPr lang="en-IN" sz="1800" kern="100" dirty="0">
                <a:effectLst/>
                <a:latin typeface="Times New Roman" panose="02020603050405020304" pitchFamily="18" charset="0"/>
                <a:ea typeface="Noto Serif CJK SC"/>
                <a:cs typeface="Times New Roman" panose="02020603050405020304" pitchFamily="18" charset="0"/>
              </a:rPr>
              <a:t>Web3.js / Ethers.js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Code Editor :</a:t>
            </a:r>
            <a:r>
              <a:rPr lang="en-IN" sz="1800" kern="100" dirty="0">
                <a:effectLst/>
                <a:latin typeface="Times New Roman" panose="02020603050405020304" pitchFamily="18" charset="0"/>
                <a:ea typeface="Noto Serif CJK SC"/>
                <a:cs typeface="Times New Roman" panose="02020603050405020304" pitchFamily="18" charset="0"/>
              </a:rPr>
              <a:t> VS Code / Atom / Sublime</a:t>
            </a:r>
          </a:p>
          <a:p>
            <a:endParaRPr lang="en-US" dirty="0"/>
          </a:p>
          <a:p>
            <a:endParaRPr lang="en-IN" dirty="0"/>
          </a:p>
        </p:txBody>
      </p:sp>
    </p:spTree>
    <p:extLst>
      <p:ext uri="{BB962C8B-B14F-4D97-AF65-F5344CB8AC3E}">
        <p14:creationId xmlns:p14="http://schemas.microsoft.com/office/powerpoint/2010/main" val="2225915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0CD97-F836-C7C2-0656-4551E7CF1D82}"/>
              </a:ext>
            </a:extLst>
          </p:cNvPr>
          <p:cNvSpPr>
            <a:spLocks noGrp="1"/>
          </p:cNvSpPr>
          <p:nvPr>
            <p:ph type="title"/>
          </p:nvPr>
        </p:nvSpPr>
        <p:spPr/>
        <p:txBody>
          <a:bodyPr>
            <a:normAutofit/>
          </a:bodyPr>
          <a:lstStyle/>
          <a:p>
            <a:r>
              <a:rPr lang="en-IN" sz="3200" b="1" dirty="0">
                <a:effectLst/>
                <a:latin typeface="Times New Roman" panose="02020603050405020304" pitchFamily="18" charset="0"/>
                <a:ea typeface="Noto Serif CJK SC"/>
                <a:cs typeface="Times New Roman" panose="02020603050405020304" pitchFamily="18" charset="0"/>
              </a:rPr>
              <a:t>Hardware </a:t>
            </a:r>
            <a:r>
              <a:rPr lang="en-IN" sz="3200" b="1" kern="100" dirty="0">
                <a:effectLst/>
                <a:latin typeface="Times New Roman" panose="02020603050405020304" pitchFamily="18" charset="0"/>
                <a:ea typeface="Noto Serif CJK SC"/>
                <a:cs typeface="Times New Roman" panose="02020603050405020304" pitchFamily="18" charset="0"/>
              </a:rPr>
              <a:t>Requirements for Subsidy Distribution Application</a:t>
            </a:r>
            <a:endParaRPr lang="en-IN" sz="3200" dirty="0"/>
          </a:p>
        </p:txBody>
      </p:sp>
      <p:sp>
        <p:nvSpPr>
          <p:cNvPr id="3" name="Content Placeholder 2">
            <a:extLst>
              <a:ext uri="{FF2B5EF4-FFF2-40B4-BE49-F238E27FC236}">
                <a16:creationId xmlns:a16="http://schemas.microsoft.com/office/drawing/2014/main" id="{5EDFCC33-EC85-CBE6-01B5-AEBA686D61F2}"/>
              </a:ext>
            </a:extLst>
          </p:cNvPr>
          <p:cNvSpPr>
            <a:spLocks noGrp="1"/>
          </p:cNvSpPr>
          <p:nvPr>
            <p:ph idx="1"/>
          </p:nvPr>
        </p:nvSpPr>
        <p:spPr>
          <a:xfrm>
            <a:off x="1066800" y="1813928"/>
            <a:ext cx="10058400" cy="4023360"/>
          </a:xfrm>
        </p:spPr>
        <p:txBody>
          <a:bodyPr>
            <a:normAutofit lnSpcReduction="10000"/>
          </a:bodyPr>
          <a:lstStyle/>
          <a:p>
            <a:pPr marL="0" lvl="0" indent="0">
              <a:lnSpc>
                <a:spcPct val="115000"/>
              </a:lnSpc>
              <a:spcAft>
                <a:spcPts val="700"/>
              </a:spcAft>
              <a:buNone/>
              <a:tabLst>
                <a:tab pos="450215" algn="l"/>
              </a:tabLst>
            </a:pPr>
            <a:r>
              <a:rPr lang="en-IN" b="1" kern="100" dirty="0">
                <a:effectLst/>
                <a:latin typeface="Times New Roman" panose="02020603050405020304" pitchFamily="18" charset="0"/>
                <a:ea typeface="Noto Serif CJK SC"/>
                <a:cs typeface="Times New Roman" panose="02020603050405020304" pitchFamily="18" charset="0"/>
              </a:rPr>
              <a:t>1.Development Machine:</a:t>
            </a:r>
          </a:p>
          <a:p>
            <a:pPr marL="742950" lvl="1" indent="-285750">
              <a:lnSpc>
                <a:spcPct val="115000"/>
              </a:lnSpc>
              <a:spcAft>
                <a:spcPts val="700"/>
              </a:spcAft>
              <a:buFont typeface="Symbol" panose="05050102010706020507" pitchFamily="18" charset="2"/>
              <a:buChar char=""/>
              <a:tabLst>
                <a:tab pos="900430" algn="l"/>
              </a:tabLst>
            </a:pPr>
            <a:r>
              <a:rPr lang="en-IN" b="1" kern="100" dirty="0">
                <a:effectLst/>
                <a:latin typeface="Times New Roman" panose="02020603050405020304" pitchFamily="18" charset="0"/>
                <a:ea typeface="Noto Serif CJK SC"/>
                <a:cs typeface="Times New Roman" panose="02020603050405020304" pitchFamily="18" charset="0"/>
              </a:rPr>
              <a:t>CPU:</a:t>
            </a:r>
            <a:r>
              <a:rPr lang="en-IN" sz="1200" kern="100" dirty="0">
                <a:effectLst/>
                <a:latin typeface="Times New Roman" panose="02020603050405020304" pitchFamily="18" charset="0"/>
                <a:ea typeface="Noto Serif CJK SC"/>
                <a:cs typeface="Times New Roman" panose="02020603050405020304" pitchFamily="18" charset="0"/>
              </a:rPr>
              <a:t> </a:t>
            </a:r>
            <a:r>
              <a:rPr lang="en-IN" sz="1600" kern="100" dirty="0">
                <a:effectLst/>
                <a:latin typeface="Times New Roman" panose="02020603050405020304" pitchFamily="18" charset="0"/>
                <a:ea typeface="Noto Serif CJK SC"/>
                <a:cs typeface="Times New Roman" panose="02020603050405020304" pitchFamily="18" charset="0"/>
              </a:rPr>
              <a:t>Intel Core i5 (8th Gen) or AMD </a:t>
            </a:r>
            <a:r>
              <a:rPr lang="en-IN" sz="1600" kern="100" dirty="0" err="1">
                <a:effectLst/>
                <a:latin typeface="Times New Roman" panose="02020603050405020304" pitchFamily="18" charset="0"/>
                <a:ea typeface="Noto Serif CJK SC"/>
                <a:cs typeface="Times New Roman" panose="02020603050405020304" pitchFamily="18" charset="0"/>
              </a:rPr>
              <a:t>Ryzen</a:t>
            </a:r>
            <a:r>
              <a:rPr lang="en-IN" sz="1600" kern="100" dirty="0">
                <a:effectLst/>
                <a:latin typeface="Times New Roman" panose="02020603050405020304" pitchFamily="18" charset="0"/>
                <a:ea typeface="Noto Serif CJK SC"/>
                <a:cs typeface="Times New Roman" panose="02020603050405020304" pitchFamily="18" charset="0"/>
              </a:rPr>
              <a:t> 5</a:t>
            </a:r>
          </a:p>
          <a:p>
            <a:pPr marL="742950" lvl="1" indent="-285750">
              <a:lnSpc>
                <a:spcPct val="115000"/>
              </a:lnSpc>
              <a:spcAft>
                <a:spcPts val="700"/>
              </a:spcAft>
              <a:buFont typeface="Symbol" panose="05050102010706020507" pitchFamily="18" charset="2"/>
              <a:buChar char=""/>
              <a:tabLst>
                <a:tab pos="900430" algn="l"/>
              </a:tabLst>
            </a:pPr>
            <a:r>
              <a:rPr lang="en-IN" b="1" kern="100" dirty="0">
                <a:effectLst/>
                <a:latin typeface="Times New Roman" panose="02020603050405020304" pitchFamily="18" charset="0"/>
                <a:ea typeface="Noto Serif CJK SC"/>
                <a:cs typeface="Times New Roman" panose="02020603050405020304" pitchFamily="18" charset="0"/>
              </a:rPr>
              <a:t>RAM:</a:t>
            </a:r>
            <a:r>
              <a:rPr lang="en-IN" sz="1200" kern="100" dirty="0">
                <a:effectLst/>
                <a:latin typeface="Times New Roman" panose="02020603050405020304" pitchFamily="18" charset="0"/>
                <a:ea typeface="Noto Serif CJK SC"/>
                <a:cs typeface="Times New Roman" panose="02020603050405020304" pitchFamily="18" charset="0"/>
              </a:rPr>
              <a:t> </a:t>
            </a:r>
            <a:r>
              <a:rPr lang="en-IN" sz="1600" kern="100" dirty="0">
                <a:effectLst/>
                <a:latin typeface="Times New Roman" panose="02020603050405020304" pitchFamily="18" charset="0"/>
                <a:ea typeface="Noto Serif CJK SC"/>
                <a:cs typeface="Times New Roman" panose="02020603050405020304" pitchFamily="18" charset="0"/>
              </a:rPr>
              <a:t>8GB (16GB Recommended)</a:t>
            </a:r>
          </a:p>
          <a:p>
            <a:pPr marL="742950" lvl="1" indent="-285750">
              <a:lnSpc>
                <a:spcPct val="115000"/>
              </a:lnSpc>
              <a:spcAft>
                <a:spcPts val="700"/>
              </a:spcAft>
              <a:buFont typeface="Symbol" panose="05050102010706020507" pitchFamily="18" charset="2"/>
              <a:buChar char=""/>
              <a:tabLst>
                <a:tab pos="900430" algn="l"/>
              </a:tabLst>
            </a:pPr>
            <a:r>
              <a:rPr lang="en-IN" b="1" kern="100" dirty="0">
                <a:effectLst/>
                <a:latin typeface="Times New Roman" panose="02020603050405020304" pitchFamily="18" charset="0"/>
                <a:ea typeface="Noto Serif CJK SC"/>
                <a:cs typeface="Times New Roman" panose="02020603050405020304" pitchFamily="18" charset="0"/>
              </a:rPr>
              <a:t>Storage:</a:t>
            </a:r>
            <a:r>
              <a:rPr lang="en-IN" kern="100" dirty="0">
                <a:effectLst/>
                <a:latin typeface="Times New Roman" panose="02020603050405020304" pitchFamily="18" charset="0"/>
                <a:ea typeface="Noto Serif CJK SC"/>
                <a:cs typeface="Times New Roman" panose="02020603050405020304" pitchFamily="18" charset="0"/>
              </a:rPr>
              <a:t> </a:t>
            </a:r>
            <a:r>
              <a:rPr lang="en-IN" sz="1600" kern="100" dirty="0">
                <a:effectLst/>
                <a:latin typeface="Times New Roman" panose="02020603050405020304" pitchFamily="18" charset="0"/>
                <a:ea typeface="Noto Serif CJK SC"/>
                <a:cs typeface="Times New Roman" panose="02020603050405020304" pitchFamily="18" charset="0"/>
              </a:rPr>
              <a:t>256GB SSD (512GB Preferred)</a:t>
            </a:r>
          </a:p>
          <a:p>
            <a:pPr marL="0" lvl="0" indent="0">
              <a:lnSpc>
                <a:spcPct val="115000"/>
              </a:lnSpc>
              <a:spcAft>
                <a:spcPts val="700"/>
              </a:spcAft>
              <a:buNone/>
              <a:tabLst>
                <a:tab pos="450215" algn="l"/>
              </a:tabLst>
            </a:pPr>
            <a:r>
              <a:rPr lang="en-IN" b="1" kern="100" dirty="0">
                <a:effectLst/>
                <a:latin typeface="Times New Roman" panose="02020603050405020304" pitchFamily="18" charset="0"/>
                <a:ea typeface="Noto Serif CJK SC"/>
                <a:cs typeface="Times New Roman" panose="02020603050405020304" pitchFamily="18" charset="0"/>
              </a:rPr>
              <a:t>2.Personal Blockchain Node:</a:t>
            </a:r>
            <a:endParaRPr lang="en-IN" kern="100" dirty="0">
              <a:effectLst/>
              <a:latin typeface="Times New Roman" panose="02020603050405020304" pitchFamily="18" charset="0"/>
              <a:ea typeface="Noto Serif CJK SC"/>
              <a:cs typeface="Times New Roman" panose="02020603050405020304" pitchFamily="18" charset="0"/>
            </a:endParaRPr>
          </a:p>
          <a:p>
            <a:pPr marL="742950" lvl="1" indent="-285750">
              <a:lnSpc>
                <a:spcPct val="115000"/>
              </a:lnSpc>
              <a:spcAft>
                <a:spcPts val="700"/>
              </a:spcAft>
              <a:buFont typeface="Symbol" panose="05050102010706020507" pitchFamily="18" charset="2"/>
              <a:buChar char=""/>
              <a:tabLst>
                <a:tab pos="900430" algn="l"/>
              </a:tabLst>
            </a:pPr>
            <a:r>
              <a:rPr lang="en-IN" b="1" kern="100" dirty="0">
                <a:effectLst/>
                <a:latin typeface="Times New Roman" panose="02020603050405020304" pitchFamily="18" charset="0"/>
                <a:ea typeface="Noto Serif CJK SC"/>
                <a:cs typeface="Times New Roman" panose="02020603050405020304" pitchFamily="18" charset="0"/>
              </a:rPr>
              <a:t>CPU:</a:t>
            </a:r>
            <a:r>
              <a:rPr lang="en-IN" kern="100" dirty="0">
                <a:effectLst/>
                <a:latin typeface="Times New Roman" panose="02020603050405020304" pitchFamily="18" charset="0"/>
                <a:ea typeface="Noto Serif CJK SC"/>
                <a:cs typeface="Times New Roman" panose="02020603050405020304" pitchFamily="18" charset="0"/>
              </a:rPr>
              <a:t> </a:t>
            </a:r>
            <a:r>
              <a:rPr lang="en-IN" sz="1600" kern="100" dirty="0">
                <a:effectLst/>
                <a:latin typeface="Times New Roman" panose="02020603050405020304" pitchFamily="18" charset="0"/>
                <a:ea typeface="Noto Serif CJK SC"/>
                <a:cs typeface="Times New Roman" panose="02020603050405020304" pitchFamily="18" charset="0"/>
              </a:rPr>
              <a:t>Intel Core i7 / AMD </a:t>
            </a:r>
            <a:r>
              <a:rPr lang="en-IN" sz="1600" kern="100" dirty="0" err="1">
                <a:effectLst/>
                <a:latin typeface="Times New Roman" panose="02020603050405020304" pitchFamily="18" charset="0"/>
                <a:ea typeface="Noto Serif CJK SC"/>
                <a:cs typeface="Times New Roman" panose="02020603050405020304" pitchFamily="18" charset="0"/>
              </a:rPr>
              <a:t>Ryzen</a:t>
            </a:r>
            <a:r>
              <a:rPr lang="en-IN" sz="1600" kern="100" dirty="0">
                <a:effectLst/>
                <a:latin typeface="Times New Roman" panose="02020603050405020304" pitchFamily="18" charset="0"/>
                <a:ea typeface="Noto Serif CJK SC"/>
                <a:cs typeface="Times New Roman" panose="02020603050405020304" pitchFamily="18" charset="0"/>
              </a:rPr>
              <a:t> 7</a:t>
            </a:r>
          </a:p>
          <a:p>
            <a:pPr marL="742950" lvl="1" indent="-285750">
              <a:lnSpc>
                <a:spcPct val="115000"/>
              </a:lnSpc>
              <a:spcAft>
                <a:spcPts val="700"/>
              </a:spcAft>
              <a:buFont typeface="Symbol" panose="05050102010706020507" pitchFamily="18" charset="2"/>
              <a:buChar char=""/>
              <a:tabLst>
                <a:tab pos="900430" algn="l"/>
              </a:tabLst>
            </a:pPr>
            <a:r>
              <a:rPr lang="en-IN" b="1" kern="100" dirty="0">
                <a:effectLst/>
                <a:latin typeface="Times New Roman" panose="02020603050405020304" pitchFamily="18" charset="0"/>
                <a:ea typeface="Noto Serif CJK SC"/>
                <a:cs typeface="Times New Roman" panose="02020603050405020304" pitchFamily="18" charset="0"/>
              </a:rPr>
              <a:t>RAM:</a:t>
            </a:r>
            <a:r>
              <a:rPr lang="en-IN" sz="1200" kern="100" dirty="0">
                <a:effectLst/>
                <a:latin typeface="Times New Roman" panose="02020603050405020304" pitchFamily="18" charset="0"/>
                <a:ea typeface="Noto Serif CJK SC"/>
                <a:cs typeface="Times New Roman" panose="02020603050405020304" pitchFamily="18" charset="0"/>
              </a:rPr>
              <a:t> </a:t>
            </a:r>
            <a:r>
              <a:rPr lang="en-IN" sz="1600" kern="100" dirty="0">
                <a:effectLst/>
                <a:latin typeface="Times New Roman" panose="02020603050405020304" pitchFamily="18" charset="0"/>
                <a:ea typeface="Noto Serif CJK SC"/>
                <a:cs typeface="Times New Roman" panose="02020603050405020304" pitchFamily="18" charset="0"/>
              </a:rPr>
              <a:t>16GB (32GB for large simulations)</a:t>
            </a:r>
          </a:p>
          <a:p>
            <a:pPr marL="742950" lvl="1" indent="-285750">
              <a:lnSpc>
                <a:spcPct val="115000"/>
              </a:lnSpc>
              <a:spcAft>
                <a:spcPts val="700"/>
              </a:spcAft>
              <a:buFont typeface="Symbol" panose="05050102010706020507" pitchFamily="18" charset="2"/>
              <a:buChar char=""/>
              <a:tabLst>
                <a:tab pos="900430" algn="l"/>
              </a:tabLst>
            </a:pPr>
            <a:r>
              <a:rPr lang="en-IN" b="1" kern="100" dirty="0">
                <a:effectLst/>
                <a:latin typeface="Times New Roman" panose="02020603050405020304" pitchFamily="18" charset="0"/>
                <a:ea typeface="Noto Serif CJK SC"/>
                <a:cs typeface="Times New Roman" panose="02020603050405020304" pitchFamily="18" charset="0"/>
              </a:rPr>
              <a:t>Storage</a:t>
            </a:r>
            <a:r>
              <a:rPr lang="en-IN" sz="1600" b="1" kern="100" dirty="0">
                <a:effectLst/>
                <a:latin typeface="Times New Roman" panose="02020603050405020304" pitchFamily="18" charset="0"/>
                <a:ea typeface="Noto Serif CJK SC"/>
                <a:cs typeface="Times New Roman" panose="02020603050405020304" pitchFamily="18" charset="0"/>
              </a:rPr>
              <a:t>:</a:t>
            </a:r>
            <a:r>
              <a:rPr lang="en-IN" sz="1600" kern="100" dirty="0">
                <a:effectLst/>
                <a:latin typeface="Times New Roman" panose="02020603050405020304" pitchFamily="18" charset="0"/>
                <a:ea typeface="Noto Serif CJK SC"/>
                <a:cs typeface="Times New Roman" panose="02020603050405020304" pitchFamily="18" charset="0"/>
              </a:rPr>
              <a:t> 1TB SSD (Blockchain data storage)</a:t>
            </a:r>
          </a:p>
          <a:p>
            <a:pPr marL="742950" lvl="1" indent="-285750">
              <a:lnSpc>
                <a:spcPct val="115000"/>
              </a:lnSpc>
              <a:spcAft>
                <a:spcPts val="700"/>
              </a:spcAft>
              <a:buFont typeface="Symbol" panose="05050102010706020507" pitchFamily="18" charset="2"/>
              <a:buChar char=""/>
              <a:tabLst>
                <a:tab pos="900430" algn="l"/>
              </a:tabLst>
            </a:pPr>
            <a:r>
              <a:rPr lang="en-IN" b="1" kern="100" dirty="0">
                <a:effectLst/>
                <a:latin typeface="Times New Roman" panose="02020603050405020304" pitchFamily="18" charset="0"/>
                <a:ea typeface="Noto Serif CJK SC"/>
                <a:cs typeface="Times New Roman" panose="02020603050405020304" pitchFamily="18" charset="0"/>
              </a:rPr>
              <a:t>Network:</a:t>
            </a:r>
            <a:r>
              <a:rPr lang="en-IN" sz="1200" kern="100" dirty="0">
                <a:effectLst/>
                <a:latin typeface="Times New Roman" panose="02020603050405020304" pitchFamily="18" charset="0"/>
                <a:ea typeface="Noto Serif CJK SC"/>
                <a:cs typeface="Times New Roman" panose="02020603050405020304" pitchFamily="18" charset="0"/>
              </a:rPr>
              <a:t> </a:t>
            </a:r>
            <a:r>
              <a:rPr lang="en-IN" sz="1600" kern="100" dirty="0">
                <a:effectLst/>
                <a:latin typeface="Times New Roman" panose="02020603050405020304" pitchFamily="18" charset="0"/>
                <a:ea typeface="Noto Serif CJK SC"/>
                <a:cs typeface="Times New Roman" panose="02020603050405020304" pitchFamily="18" charset="0"/>
              </a:rPr>
              <a:t>High-speed Internet / Local Network</a:t>
            </a:r>
          </a:p>
          <a:p>
            <a:pPr marL="0" indent="0">
              <a:lnSpc>
                <a:spcPct val="150000"/>
              </a:lnSpc>
              <a:buNone/>
            </a:pPr>
            <a:endParaRPr lang="en-US" dirty="0">
              <a:latin typeface="Cambria" panose="02040503050406030204" pitchFamily="18" charset="0"/>
              <a:ea typeface="Cambria" panose="02040503050406030204" pitchFamily="18" charset="0"/>
            </a:endParaRPr>
          </a:p>
          <a:p>
            <a:pPr marL="0" indent="0">
              <a:lnSpc>
                <a:spcPct val="150000"/>
              </a:lnSpc>
              <a:buNone/>
            </a:pPr>
            <a:endParaRPr lang="en-US" dirty="0">
              <a:latin typeface="Cambria" panose="02040503050406030204" pitchFamily="18" charset="0"/>
              <a:ea typeface="Cambria" panose="02040503050406030204" pitchFamily="18" charset="0"/>
            </a:endParaRPr>
          </a:p>
          <a:p>
            <a:pPr marL="0" indent="0">
              <a:lnSpc>
                <a:spcPct val="150000"/>
              </a:lnSpc>
              <a:buNone/>
            </a:pPr>
            <a:endParaRPr lang="en-US" dirty="0">
              <a:latin typeface="Cambria" panose="02040503050406030204" pitchFamily="18" charset="0"/>
              <a:ea typeface="Cambria" panose="02040503050406030204" pitchFamily="18" charset="0"/>
            </a:endParaRPr>
          </a:p>
          <a:p>
            <a:pPr marL="0" indent="0" algn="l">
              <a:lnSpc>
                <a:spcPct val="150000"/>
              </a:lnSpc>
              <a:buNone/>
            </a:pPr>
            <a:endParaRPr lang="en-US" b="0" i="0" dirty="0">
              <a:solidFill>
                <a:srgbClr val="374151"/>
              </a:solidFill>
              <a:effectLst/>
              <a:latin typeface="Söhne"/>
            </a:endParaRPr>
          </a:p>
        </p:txBody>
      </p:sp>
    </p:spTree>
    <p:extLst>
      <p:ext uri="{BB962C8B-B14F-4D97-AF65-F5344CB8AC3E}">
        <p14:creationId xmlns:p14="http://schemas.microsoft.com/office/powerpoint/2010/main" val="2849616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5CCC4-9CB7-2E51-BF9B-482807D47503}"/>
              </a:ext>
            </a:extLst>
          </p:cNvPr>
          <p:cNvSpPr>
            <a:spLocks noGrp="1"/>
          </p:cNvSpPr>
          <p:nvPr>
            <p:ph type="title"/>
          </p:nvPr>
        </p:nvSpPr>
        <p:spPr/>
        <p:txBody>
          <a:bodyPr>
            <a:normAutofit/>
          </a:bodyPr>
          <a:lstStyle/>
          <a:p>
            <a:r>
              <a:rPr lang="en-GB" dirty="0">
                <a:latin typeface="Cambria" panose="02040503050406030204" pitchFamily="18" charset="0"/>
                <a:ea typeface="Cambria" panose="02040503050406030204" pitchFamily="18" charset="0"/>
              </a:rPr>
              <a:t>Timeline of the Project (Gantt Chart)</a:t>
            </a:r>
            <a:endParaRPr lang="en-IN" dirty="0"/>
          </a:p>
        </p:txBody>
      </p:sp>
      <p:graphicFrame>
        <p:nvGraphicFramePr>
          <p:cNvPr id="7" name="Content Placeholder 6">
            <a:extLst>
              <a:ext uri="{FF2B5EF4-FFF2-40B4-BE49-F238E27FC236}">
                <a16:creationId xmlns:a16="http://schemas.microsoft.com/office/drawing/2014/main" id="{FDCD2382-35CD-B57D-B250-B6283BEC684E}"/>
              </a:ext>
            </a:extLst>
          </p:cNvPr>
          <p:cNvGraphicFramePr>
            <a:graphicFrameLocks noGrp="1"/>
          </p:cNvGraphicFramePr>
          <p:nvPr>
            <p:ph idx="1"/>
            <p:extLst>
              <p:ext uri="{D42A27DB-BD31-4B8C-83A1-F6EECF244321}">
                <p14:modId xmlns:p14="http://schemas.microsoft.com/office/powerpoint/2010/main" val="236020091"/>
              </p:ext>
            </p:extLst>
          </p:nvPr>
        </p:nvGraphicFramePr>
        <p:xfrm>
          <a:off x="1224501" y="1835364"/>
          <a:ext cx="4238047" cy="4044524"/>
        </p:xfrm>
        <a:graphic>
          <a:graphicData uri="http://schemas.openxmlformats.org/drawingml/2006/table">
            <a:tbl>
              <a:tblPr>
                <a:tableStyleId>{5C22544A-7EE6-4342-B048-85BDC9FD1C3A}</a:tableStyleId>
              </a:tblPr>
              <a:tblGrid>
                <a:gridCol w="1983046">
                  <a:extLst>
                    <a:ext uri="{9D8B030D-6E8A-4147-A177-3AD203B41FA5}">
                      <a16:colId xmlns:a16="http://schemas.microsoft.com/office/drawing/2014/main" val="1371852086"/>
                    </a:ext>
                  </a:extLst>
                </a:gridCol>
                <a:gridCol w="509115">
                  <a:extLst>
                    <a:ext uri="{9D8B030D-6E8A-4147-A177-3AD203B41FA5}">
                      <a16:colId xmlns:a16="http://schemas.microsoft.com/office/drawing/2014/main" val="2450737536"/>
                    </a:ext>
                  </a:extLst>
                </a:gridCol>
                <a:gridCol w="861918">
                  <a:extLst>
                    <a:ext uri="{9D8B030D-6E8A-4147-A177-3AD203B41FA5}">
                      <a16:colId xmlns:a16="http://schemas.microsoft.com/office/drawing/2014/main" val="2611692702"/>
                    </a:ext>
                  </a:extLst>
                </a:gridCol>
                <a:gridCol w="883968">
                  <a:extLst>
                    <a:ext uri="{9D8B030D-6E8A-4147-A177-3AD203B41FA5}">
                      <a16:colId xmlns:a16="http://schemas.microsoft.com/office/drawing/2014/main" val="3627846386"/>
                    </a:ext>
                  </a:extLst>
                </a:gridCol>
              </a:tblGrid>
              <a:tr h="365702">
                <a:tc>
                  <a:txBody>
                    <a:bodyPr/>
                    <a:lstStyle/>
                    <a:p>
                      <a:pPr algn="ctr"/>
                      <a:r>
                        <a:rPr lang="en-IN" sz="1100" kern="100">
                          <a:effectLst/>
                        </a:rPr>
                        <a:t>Task</a:t>
                      </a:r>
                      <a:endParaRPr lang="en-IN" sz="1100" b="1" kern="100">
                        <a:effectLst/>
                        <a:latin typeface="Liberation Serif"/>
                        <a:ea typeface="Noto Serif CJK SC"/>
                        <a:cs typeface="Lohit Devanagari"/>
                      </a:endParaRPr>
                    </a:p>
                  </a:txBody>
                  <a:tcPr marL="16202" marR="16202" marT="16202" marB="16202" anchor="ctr"/>
                </a:tc>
                <a:tc>
                  <a:txBody>
                    <a:bodyPr/>
                    <a:lstStyle/>
                    <a:p>
                      <a:pPr algn="ctr"/>
                      <a:r>
                        <a:rPr lang="en-IN" sz="1100" kern="100">
                          <a:effectLst/>
                        </a:rPr>
                        <a:t>Duration</a:t>
                      </a:r>
                      <a:endParaRPr lang="en-IN" sz="1100" b="1" kern="100">
                        <a:effectLst/>
                        <a:latin typeface="Liberation Serif"/>
                        <a:ea typeface="Noto Serif CJK SC"/>
                        <a:cs typeface="Lohit Devanagari"/>
                      </a:endParaRPr>
                    </a:p>
                  </a:txBody>
                  <a:tcPr marL="16202" marR="16202" marT="16202" marB="16202" anchor="ctr"/>
                </a:tc>
                <a:tc>
                  <a:txBody>
                    <a:bodyPr/>
                    <a:lstStyle/>
                    <a:p>
                      <a:pPr algn="ctr"/>
                      <a:r>
                        <a:rPr lang="en-IN" sz="1100" kern="100">
                          <a:effectLst/>
                        </a:rPr>
                        <a:t>Start</a:t>
                      </a:r>
                      <a:endParaRPr lang="en-IN" sz="1100" b="1" kern="100">
                        <a:effectLst/>
                        <a:latin typeface="Liberation Serif"/>
                        <a:ea typeface="Noto Serif CJK SC"/>
                        <a:cs typeface="Lohit Devanagari"/>
                      </a:endParaRPr>
                    </a:p>
                  </a:txBody>
                  <a:tcPr marL="16202" marR="16202" marT="16202" marB="16202" anchor="ctr"/>
                </a:tc>
                <a:tc>
                  <a:txBody>
                    <a:bodyPr/>
                    <a:lstStyle/>
                    <a:p>
                      <a:pPr algn="ctr"/>
                      <a:r>
                        <a:rPr lang="en-IN" sz="1100" kern="100">
                          <a:effectLst/>
                        </a:rPr>
                        <a:t>End</a:t>
                      </a:r>
                      <a:endParaRPr lang="en-IN" sz="1100" b="1" kern="100">
                        <a:effectLst/>
                        <a:latin typeface="Liberation Serif"/>
                        <a:ea typeface="Noto Serif CJK SC"/>
                        <a:cs typeface="Lohit Devanagari"/>
                      </a:endParaRPr>
                    </a:p>
                  </a:txBody>
                  <a:tcPr marL="16202" marR="16202" marT="16202" marB="16202" anchor="ctr"/>
                </a:tc>
                <a:extLst>
                  <a:ext uri="{0D108BD9-81ED-4DB2-BD59-A6C34878D82A}">
                    <a16:rowId xmlns:a16="http://schemas.microsoft.com/office/drawing/2014/main" val="942822660"/>
                  </a:ext>
                </a:extLst>
              </a:tr>
              <a:tr h="365702">
                <a:tc>
                  <a:txBody>
                    <a:bodyPr/>
                    <a:lstStyle/>
                    <a:p>
                      <a:r>
                        <a:rPr lang="en-IN" sz="1100" kern="100">
                          <a:effectLst/>
                        </a:rPr>
                        <a:t>Project Planning &amp; Requirements</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2 weeks</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1, Week 1</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1, Week 2</a:t>
                      </a:r>
                      <a:endParaRPr lang="en-IN" sz="1100" kern="100">
                        <a:effectLst/>
                        <a:latin typeface="Liberation Serif"/>
                        <a:ea typeface="Noto Serif CJK SC"/>
                        <a:cs typeface="Lohit Devanagari"/>
                      </a:endParaRPr>
                    </a:p>
                  </a:txBody>
                  <a:tcPr marL="16202" marR="16202" marT="16202" marB="16202" anchor="ctr"/>
                </a:tc>
                <a:extLst>
                  <a:ext uri="{0D108BD9-81ED-4DB2-BD59-A6C34878D82A}">
                    <a16:rowId xmlns:a16="http://schemas.microsoft.com/office/drawing/2014/main" val="2071086034"/>
                  </a:ext>
                </a:extLst>
              </a:tr>
              <a:tr h="365702">
                <a:tc>
                  <a:txBody>
                    <a:bodyPr/>
                    <a:lstStyle/>
                    <a:p>
                      <a:r>
                        <a:rPr lang="en-IN" sz="1100" kern="100">
                          <a:effectLst/>
                        </a:rPr>
                        <a:t>Technology Stack Setup</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3 weeks</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1, Week 3</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2, Week 1</a:t>
                      </a:r>
                      <a:endParaRPr lang="en-IN" sz="1100" kern="100">
                        <a:effectLst/>
                        <a:latin typeface="Liberation Serif"/>
                        <a:ea typeface="Noto Serif CJK SC"/>
                        <a:cs typeface="Lohit Devanagari"/>
                      </a:endParaRPr>
                    </a:p>
                  </a:txBody>
                  <a:tcPr marL="16202" marR="16202" marT="16202" marB="16202" anchor="ctr"/>
                </a:tc>
                <a:extLst>
                  <a:ext uri="{0D108BD9-81ED-4DB2-BD59-A6C34878D82A}">
                    <a16:rowId xmlns:a16="http://schemas.microsoft.com/office/drawing/2014/main" val="3393796730"/>
                  </a:ext>
                </a:extLst>
              </a:tr>
              <a:tr h="365702">
                <a:tc>
                  <a:txBody>
                    <a:bodyPr/>
                    <a:lstStyle/>
                    <a:p>
                      <a:r>
                        <a:rPr lang="en-IN" sz="1100" kern="100">
                          <a:effectLst/>
                        </a:rPr>
                        <a:t>Smart Contract Development</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4 weeks</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2, Week 2</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3, Week 1</a:t>
                      </a:r>
                      <a:endParaRPr lang="en-IN" sz="1100" kern="100">
                        <a:effectLst/>
                        <a:latin typeface="Liberation Serif"/>
                        <a:ea typeface="Noto Serif CJK SC"/>
                        <a:cs typeface="Lohit Devanagari"/>
                      </a:endParaRPr>
                    </a:p>
                  </a:txBody>
                  <a:tcPr marL="16202" marR="16202" marT="16202" marB="16202" anchor="ctr"/>
                </a:tc>
                <a:extLst>
                  <a:ext uri="{0D108BD9-81ED-4DB2-BD59-A6C34878D82A}">
                    <a16:rowId xmlns:a16="http://schemas.microsoft.com/office/drawing/2014/main" val="2635887584"/>
                  </a:ext>
                </a:extLst>
              </a:tr>
              <a:tr h="365702">
                <a:tc>
                  <a:txBody>
                    <a:bodyPr/>
                    <a:lstStyle/>
                    <a:p>
                      <a:r>
                        <a:rPr lang="en-IN" sz="1100" kern="100">
                          <a:effectLst/>
                        </a:rPr>
                        <a:t>Backend Development</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4 weeks</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3, Week 2</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4, Week 1</a:t>
                      </a:r>
                      <a:endParaRPr lang="en-IN" sz="1100" kern="100">
                        <a:effectLst/>
                        <a:latin typeface="Liberation Serif"/>
                        <a:ea typeface="Noto Serif CJK SC"/>
                        <a:cs typeface="Lohit Devanagari"/>
                      </a:endParaRPr>
                    </a:p>
                  </a:txBody>
                  <a:tcPr marL="16202" marR="16202" marT="16202" marB="16202" anchor="ctr"/>
                </a:tc>
                <a:extLst>
                  <a:ext uri="{0D108BD9-81ED-4DB2-BD59-A6C34878D82A}">
                    <a16:rowId xmlns:a16="http://schemas.microsoft.com/office/drawing/2014/main" val="607771307"/>
                  </a:ext>
                </a:extLst>
              </a:tr>
              <a:tr h="365702">
                <a:tc>
                  <a:txBody>
                    <a:bodyPr/>
                    <a:lstStyle/>
                    <a:p>
                      <a:r>
                        <a:rPr lang="en-IN" sz="1100" kern="100">
                          <a:effectLst/>
                        </a:rPr>
                        <a:t>Frontend Development</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6 weeks</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4, Week 2</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5, Week 3</a:t>
                      </a:r>
                      <a:endParaRPr lang="en-IN" sz="1100" kern="100">
                        <a:effectLst/>
                        <a:latin typeface="Liberation Serif"/>
                        <a:ea typeface="Noto Serif CJK SC"/>
                        <a:cs typeface="Lohit Devanagari"/>
                      </a:endParaRPr>
                    </a:p>
                  </a:txBody>
                  <a:tcPr marL="16202" marR="16202" marT="16202" marB="16202" anchor="ctr"/>
                </a:tc>
                <a:extLst>
                  <a:ext uri="{0D108BD9-81ED-4DB2-BD59-A6C34878D82A}">
                    <a16:rowId xmlns:a16="http://schemas.microsoft.com/office/drawing/2014/main" val="3650221631"/>
                  </a:ext>
                </a:extLst>
              </a:tr>
              <a:tr h="365702">
                <a:tc>
                  <a:txBody>
                    <a:bodyPr/>
                    <a:lstStyle/>
                    <a:p>
                      <a:r>
                        <a:rPr lang="en-IN" sz="1100" kern="100">
                          <a:effectLst/>
                        </a:rPr>
                        <a:t>Consensus &amp; Blockchain Network Setup</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3 weeks</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3, Week 2</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4, Week 3</a:t>
                      </a:r>
                      <a:endParaRPr lang="en-IN" sz="1100" kern="100">
                        <a:effectLst/>
                        <a:latin typeface="Liberation Serif"/>
                        <a:ea typeface="Noto Serif CJK SC"/>
                        <a:cs typeface="Lohit Devanagari"/>
                      </a:endParaRPr>
                    </a:p>
                  </a:txBody>
                  <a:tcPr marL="16202" marR="16202" marT="16202" marB="16202" anchor="ctr"/>
                </a:tc>
                <a:extLst>
                  <a:ext uri="{0D108BD9-81ED-4DB2-BD59-A6C34878D82A}">
                    <a16:rowId xmlns:a16="http://schemas.microsoft.com/office/drawing/2014/main" val="1585769212"/>
                  </a:ext>
                </a:extLst>
              </a:tr>
              <a:tr h="365702">
                <a:tc>
                  <a:txBody>
                    <a:bodyPr/>
                    <a:lstStyle/>
                    <a:p>
                      <a:r>
                        <a:rPr lang="en-IN" sz="1100" kern="100">
                          <a:effectLst/>
                        </a:rPr>
                        <a:t>Security &amp; Auditing</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3 weeks</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5, Week 1</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5, Week 4</a:t>
                      </a:r>
                      <a:endParaRPr lang="en-IN" sz="1100" kern="100">
                        <a:effectLst/>
                        <a:latin typeface="Liberation Serif"/>
                        <a:ea typeface="Noto Serif CJK SC"/>
                        <a:cs typeface="Lohit Devanagari"/>
                      </a:endParaRPr>
                    </a:p>
                  </a:txBody>
                  <a:tcPr marL="16202" marR="16202" marT="16202" marB="16202" anchor="ctr"/>
                </a:tc>
                <a:extLst>
                  <a:ext uri="{0D108BD9-81ED-4DB2-BD59-A6C34878D82A}">
                    <a16:rowId xmlns:a16="http://schemas.microsoft.com/office/drawing/2014/main" val="1016967094"/>
                  </a:ext>
                </a:extLst>
              </a:tr>
              <a:tr h="365702">
                <a:tc>
                  <a:txBody>
                    <a:bodyPr/>
                    <a:lstStyle/>
                    <a:p>
                      <a:r>
                        <a:rPr lang="en-IN" sz="1100" kern="100">
                          <a:effectLst/>
                        </a:rPr>
                        <a:t>Testing &amp; Debugging</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4 weeks</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5, Week 2</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6, Week 1</a:t>
                      </a:r>
                      <a:endParaRPr lang="en-IN" sz="1100" kern="100">
                        <a:effectLst/>
                        <a:latin typeface="Liberation Serif"/>
                        <a:ea typeface="Noto Serif CJK SC"/>
                        <a:cs typeface="Lohit Devanagari"/>
                      </a:endParaRPr>
                    </a:p>
                  </a:txBody>
                  <a:tcPr marL="16202" marR="16202" marT="16202" marB="16202" anchor="ctr"/>
                </a:tc>
                <a:extLst>
                  <a:ext uri="{0D108BD9-81ED-4DB2-BD59-A6C34878D82A}">
                    <a16:rowId xmlns:a16="http://schemas.microsoft.com/office/drawing/2014/main" val="3625726905"/>
                  </a:ext>
                </a:extLst>
              </a:tr>
              <a:tr h="365702">
                <a:tc>
                  <a:txBody>
                    <a:bodyPr/>
                    <a:lstStyle/>
                    <a:p>
                      <a:r>
                        <a:rPr lang="en-IN" sz="1100" kern="100">
                          <a:effectLst/>
                        </a:rPr>
                        <a:t>Deployment</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3 weeks</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6, Week 2</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Month 6, Week 4</a:t>
                      </a:r>
                      <a:endParaRPr lang="en-IN" sz="1100" kern="100">
                        <a:effectLst/>
                        <a:latin typeface="Liberation Serif"/>
                        <a:ea typeface="Noto Serif CJK SC"/>
                        <a:cs typeface="Lohit Devanagari"/>
                      </a:endParaRPr>
                    </a:p>
                  </a:txBody>
                  <a:tcPr marL="16202" marR="16202" marT="16202" marB="16202" anchor="ctr"/>
                </a:tc>
                <a:extLst>
                  <a:ext uri="{0D108BD9-81ED-4DB2-BD59-A6C34878D82A}">
                    <a16:rowId xmlns:a16="http://schemas.microsoft.com/office/drawing/2014/main" val="331864659"/>
                  </a:ext>
                </a:extLst>
              </a:tr>
              <a:tr h="365702">
                <a:tc>
                  <a:txBody>
                    <a:bodyPr/>
                    <a:lstStyle/>
                    <a:p>
                      <a:r>
                        <a:rPr lang="en-IN" sz="1100" kern="100">
                          <a:effectLst/>
                        </a:rPr>
                        <a:t>Monitoring &amp; Maintenance</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4 weeks</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a:effectLst/>
                        </a:rPr>
                        <a:t>Ongoing</a:t>
                      </a:r>
                      <a:endParaRPr lang="en-IN" sz="1100" kern="100">
                        <a:effectLst/>
                        <a:latin typeface="Liberation Serif"/>
                        <a:ea typeface="Noto Serif CJK SC"/>
                        <a:cs typeface="Lohit Devanagari"/>
                      </a:endParaRPr>
                    </a:p>
                  </a:txBody>
                  <a:tcPr marL="16202" marR="16202" marT="16202" marB="16202" anchor="ctr"/>
                </a:tc>
                <a:tc>
                  <a:txBody>
                    <a:bodyPr/>
                    <a:lstStyle/>
                    <a:p>
                      <a:r>
                        <a:rPr lang="en-IN" sz="1100" kern="100" dirty="0">
                          <a:effectLst/>
                        </a:rPr>
                        <a:t>Post Deployment</a:t>
                      </a:r>
                      <a:endParaRPr lang="en-IN" sz="1100" kern="100" dirty="0">
                        <a:effectLst/>
                        <a:latin typeface="Liberation Serif"/>
                        <a:ea typeface="Noto Serif CJK SC"/>
                        <a:cs typeface="Lohit Devanagari"/>
                      </a:endParaRPr>
                    </a:p>
                  </a:txBody>
                  <a:tcPr marL="16202" marR="16202" marT="16202" marB="16202" anchor="ctr"/>
                </a:tc>
                <a:extLst>
                  <a:ext uri="{0D108BD9-81ED-4DB2-BD59-A6C34878D82A}">
                    <a16:rowId xmlns:a16="http://schemas.microsoft.com/office/drawing/2014/main" val="3614158337"/>
                  </a:ext>
                </a:extLst>
              </a:tr>
            </a:tbl>
          </a:graphicData>
        </a:graphic>
      </p:graphicFrame>
      <p:pic>
        <p:nvPicPr>
          <p:cNvPr id="9" name="Picture 8">
            <a:extLst>
              <a:ext uri="{FF2B5EF4-FFF2-40B4-BE49-F238E27FC236}">
                <a16:creationId xmlns:a16="http://schemas.microsoft.com/office/drawing/2014/main" id="{1CC7A559-6CBF-F351-B5BF-09E57CAA6A39}"/>
              </a:ext>
            </a:extLst>
          </p:cNvPr>
          <p:cNvPicPr>
            <a:picLocks noChangeAspect="1"/>
          </p:cNvPicPr>
          <p:nvPr/>
        </p:nvPicPr>
        <p:blipFill>
          <a:blip r:embed="rId2"/>
          <a:stretch>
            <a:fillRect/>
          </a:stretch>
        </p:blipFill>
        <p:spPr>
          <a:xfrm>
            <a:off x="5995283" y="1835364"/>
            <a:ext cx="5621573" cy="4044524"/>
          </a:xfrm>
          <a:prstGeom prst="rect">
            <a:avLst/>
          </a:prstGeom>
        </p:spPr>
      </p:pic>
    </p:spTree>
    <p:extLst>
      <p:ext uri="{BB962C8B-B14F-4D97-AF65-F5344CB8AC3E}">
        <p14:creationId xmlns:p14="http://schemas.microsoft.com/office/powerpoint/2010/main" val="1664765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A70BD-75D7-1FBB-605A-791CE7186C29}"/>
              </a:ext>
            </a:extLst>
          </p:cNvPr>
          <p:cNvSpPr>
            <a:spLocks noGrp="1"/>
          </p:cNvSpPr>
          <p:nvPr>
            <p:ph type="title"/>
          </p:nvPr>
        </p:nvSpPr>
        <p:spPr/>
        <p:txBody>
          <a:bodyPr/>
          <a:lstStyle/>
          <a:p>
            <a:r>
              <a:rPr lang="en-US" b="1" dirty="0">
                <a:solidFill>
                  <a:srgbClr val="374151"/>
                </a:solidFill>
                <a:latin typeface="Söhne"/>
              </a:rPr>
              <a:t>References</a:t>
            </a:r>
            <a:endParaRPr lang="en-IN" dirty="0"/>
          </a:p>
        </p:txBody>
      </p:sp>
      <p:sp>
        <p:nvSpPr>
          <p:cNvPr id="3" name="Content Placeholder 2">
            <a:extLst>
              <a:ext uri="{FF2B5EF4-FFF2-40B4-BE49-F238E27FC236}">
                <a16:creationId xmlns:a16="http://schemas.microsoft.com/office/drawing/2014/main" id="{4F244A58-7926-25EF-8222-375AB45CD5F3}"/>
              </a:ext>
            </a:extLst>
          </p:cNvPr>
          <p:cNvSpPr>
            <a:spLocks noGrp="1"/>
          </p:cNvSpPr>
          <p:nvPr>
            <p:ph idx="1"/>
          </p:nvPr>
        </p:nvSpPr>
        <p:spPr/>
        <p:txBody>
          <a:bodyPr>
            <a:normAutofit fontScale="85000" lnSpcReduction="20000"/>
          </a:bodyPr>
          <a:lstStyle/>
          <a:p>
            <a:pPr marL="342900" lvl="0" indent="-342900">
              <a:buFont typeface="+mj-lt"/>
              <a:buAutoNum type="arabicPeriod"/>
              <a:tabLst>
                <a:tab pos="457200" algn="l"/>
              </a:tabLst>
            </a:pPr>
            <a:r>
              <a:rPr lang="en-IN" sz="1800" kern="100" dirty="0">
                <a:solidFill>
                  <a:srgbClr val="222222"/>
                </a:solidFill>
                <a:effectLst/>
                <a:latin typeface="Arial;sans-serif"/>
                <a:ea typeface="Noto Serif CJK SC"/>
                <a:cs typeface="Lohit Devanagari"/>
              </a:rPr>
              <a:t>Jaffer, S. A., Pandey, S., Mehta, R., &amp; </a:t>
            </a:r>
            <a:r>
              <a:rPr lang="en-IN" sz="1800" kern="100" dirty="0" err="1">
                <a:solidFill>
                  <a:srgbClr val="222222"/>
                </a:solidFill>
                <a:effectLst/>
                <a:latin typeface="Arial;sans-serif"/>
                <a:ea typeface="Noto Serif CJK SC"/>
                <a:cs typeface="Lohit Devanagari"/>
              </a:rPr>
              <a:t>Bhavathankar</a:t>
            </a:r>
            <a:r>
              <a:rPr lang="en-IN" sz="1800" kern="100" dirty="0">
                <a:solidFill>
                  <a:srgbClr val="222222"/>
                </a:solidFill>
                <a:effectLst/>
                <a:latin typeface="Arial;sans-serif"/>
                <a:ea typeface="Noto Serif CJK SC"/>
                <a:cs typeface="Lohit Devanagari"/>
              </a:rPr>
              <a:t>, P. (2020, June). Blockchain based direct benefit transfer system for subsidy delivery. In </a:t>
            </a:r>
            <a:r>
              <a:rPr lang="en-IN" sz="1800" i="1" kern="100" dirty="0">
                <a:solidFill>
                  <a:srgbClr val="222222"/>
                </a:solidFill>
                <a:effectLst/>
                <a:latin typeface="Arial;sans-serif"/>
                <a:ea typeface="Noto Serif CJK SC"/>
                <a:cs typeface="Lohit Devanagari"/>
              </a:rPr>
              <a:t>2020 international conference for emerging technology (INCET)</a:t>
            </a:r>
            <a:r>
              <a:rPr lang="en-IN" sz="1800" kern="100" dirty="0">
                <a:solidFill>
                  <a:srgbClr val="222222"/>
                </a:solidFill>
                <a:effectLst/>
                <a:latin typeface="Liberation Serif"/>
                <a:ea typeface="Noto Serif CJK SC"/>
                <a:cs typeface="Lohit Devanagari"/>
              </a:rPr>
              <a:t> </a:t>
            </a:r>
            <a:r>
              <a:rPr lang="en-IN" sz="1800" kern="100" dirty="0">
                <a:solidFill>
                  <a:srgbClr val="222222"/>
                </a:solidFill>
                <a:effectLst/>
                <a:latin typeface="Arial;sans-serif"/>
                <a:ea typeface="Noto Serif CJK SC"/>
                <a:cs typeface="Lohit Devanagari"/>
              </a:rPr>
              <a:t>(pp. 1-6). IEEE.</a:t>
            </a:r>
            <a:endParaRPr lang="en-IN" sz="1800" kern="100" dirty="0">
              <a:effectLst/>
              <a:latin typeface="Liberation Serif"/>
              <a:ea typeface="Noto Serif CJK SC"/>
              <a:cs typeface="Lohit Devanagari"/>
            </a:endParaRPr>
          </a:p>
          <a:p>
            <a:pPr marL="342900" lvl="0" indent="-342900">
              <a:buFont typeface="+mj-lt"/>
              <a:buAutoNum type="arabicPeriod"/>
              <a:tabLst>
                <a:tab pos="457200" algn="l"/>
              </a:tabLst>
            </a:pPr>
            <a:r>
              <a:rPr lang="en-IN" sz="1800" kern="100" dirty="0">
                <a:solidFill>
                  <a:srgbClr val="222222"/>
                </a:solidFill>
                <a:effectLst/>
                <a:latin typeface="Arial;sans-serif"/>
                <a:ea typeface="Noto Serif CJK SC"/>
                <a:cs typeface="Lohit Devanagari"/>
              </a:rPr>
              <a:t>Shahrukh, R. H., Rahman, T., &amp; Mansoor, N. (2023, April). Aid Nexus: A Blockchain-Based Financial Distribution System. In </a:t>
            </a:r>
            <a:r>
              <a:rPr lang="en-IN" sz="1800" i="1" kern="100" dirty="0">
                <a:solidFill>
                  <a:srgbClr val="222222"/>
                </a:solidFill>
                <a:effectLst/>
                <a:latin typeface="Arial;sans-serif"/>
                <a:ea typeface="Noto Serif CJK SC"/>
                <a:cs typeface="Lohit Devanagari"/>
              </a:rPr>
              <a:t>World Conference on Information Systems and Technologies</a:t>
            </a:r>
            <a:r>
              <a:rPr lang="en-IN" sz="1800" kern="100" dirty="0">
                <a:solidFill>
                  <a:srgbClr val="222222"/>
                </a:solidFill>
                <a:effectLst/>
                <a:latin typeface="Arial;sans-serif"/>
                <a:ea typeface="Noto Serif CJK SC"/>
                <a:cs typeface="Lohit Devanagari"/>
              </a:rPr>
              <a:t> (pp. 131-144). Singapore: Springer Nature Singapore.</a:t>
            </a:r>
            <a:endParaRPr lang="en-IN" sz="1800" kern="100" dirty="0">
              <a:solidFill>
                <a:srgbClr val="222222"/>
              </a:solidFill>
              <a:effectLst/>
              <a:latin typeface="Liberation Serif"/>
              <a:ea typeface="Noto Serif CJK SC"/>
              <a:cs typeface="Lohit Devanagari"/>
            </a:endParaRPr>
          </a:p>
          <a:p>
            <a:pPr marL="342900" lvl="0" indent="-342900">
              <a:buFont typeface="+mj-lt"/>
              <a:buAutoNum type="arabicPeriod"/>
              <a:tabLst>
                <a:tab pos="457200" algn="l"/>
              </a:tabLst>
            </a:pPr>
            <a:r>
              <a:rPr lang="en-IN" sz="1800" kern="100" dirty="0">
                <a:solidFill>
                  <a:srgbClr val="222222"/>
                </a:solidFill>
                <a:effectLst/>
                <a:latin typeface="Arial;sans-serif"/>
                <a:ea typeface="Noto Serif CJK SC"/>
                <a:cs typeface="Lohit Devanagari"/>
              </a:rPr>
              <a:t>Pawar, R. S., </a:t>
            </a:r>
            <a:r>
              <a:rPr lang="en-IN" sz="1800" kern="100" dirty="0" err="1">
                <a:solidFill>
                  <a:srgbClr val="222222"/>
                </a:solidFill>
                <a:effectLst/>
                <a:latin typeface="Arial;sans-serif"/>
                <a:ea typeface="Noto Serif CJK SC"/>
                <a:cs typeface="Lohit Devanagari"/>
              </a:rPr>
              <a:t>Sonje</a:t>
            </a:r>
            <a:r>
              <a:rPr lang="en-IN" sz="1800" kern="100" dirty="0">
                <a:solidFill>
                  <a:srgbClr val="222222"/>
                </a:solidFill>
                <a:effectLst/>
                <a:latin typeface="Arial;sans-serif"/>
                <a:ea typeface="Noto Serif CJK SC"/>
                <a:cs typeface="Lohit Devanagari"/>
              </a:rPr>
              <a:t>, S. A., &amp; Shukla, S. (2021). Food subsidy distribution system through Blockchain technology: a value focused thinking approach for prototype development. </a:t>
            </a:r>
            <a:r>
              <a:rPr lang="en-IN" sz="1800" i="1" kern="100" dirty="0">
                <a:solidFill>
                  <a:srgbClr val="222222"/>
                </a:solidFill>
                <a:effectLst/>
                <a:latin typeface="Arial;sans-serif"/>
                <a:ea typeface="Noto Serif CJK SC"/>
                <a:cs typeface="Lohit Devanagari"/>
              </a:rPr>
              <a:t>Information Technology for Development</a:t>
            </a:r>
            <a:r>
              <a:rPr lang="en-IN" sz="1800" kern="100" dirty="0">
                <a:solidFill>
                  <a:srgbClr val="222222"/>
                </a:solidFill>
                <a:effectLst/>
                <a:latin typeface="Arial;sans-serif"/>
                <a:ea typeface="Noto Serif CJK SC"/>
                <a:cs typeface="Lohit Devanagari"/>
              </a:rPr>
              <a:t>, </a:t>
            </a:r>
            <a:r>
              <a:rPr lang="en-IN" sz="1800" i="1" kern="100" dirty="0">
                <a:solidFill>
                  <a:srgbClr val="222222"/>
                </a:solidFill>
                <a:effectLst/>
                <a:latin typeface="Arial;sans-serif"/>
                <a:ea typeface="Noto Serif CJK SC"/>
                <a:cs typeface="Lohit Devanagari"/>
              </a:rPr>
              <a:t>27</a:t>
            </a:r>
            <a:r>
              <a:rPr lang="en-IN" sz="1800" kern="100" dirty="0">
                <a:solidFill>
                  <a:srgbClr val="222222"/>
                </a:solidFill>
                <a:effectLst/>
                <a:latin typeface="Arial;sans-serif"/>
                <a:ea typeface="Noto Serif CJK SC"/>
                <a:cs typeface="Lohit Devanagari"/>
              </a:rPr>
              <a:t>(3), 470-498.</a:t>
            </a:r>
            <a:endParaRPr lang="en-IN" sz="1800" kern="100" dirty="0">
              <a:effectLst/>
              <a:latin typeface="Liberation Serif"/>
              <a:ea typeface="Noto Serif CJK SC"/>
              <a:cs typeface="Lohit Devanagari"/>
            </a:endParaRPr>
          </a:p>
          <a:p>
            <a:pPr marL="342900" lvl="0" indent="-342900">
              <a:buFont typeface="+mj-lt"/>
              <a:buAutoNum type="arabicPeriod"/>
              <a:tabLst>
                <a:tab pos="457200" algn="l"/>
              </a:tabLst>
            </a:pPr>
            <a:r>
              <a:rPr lang="en-IN" sz="1800" kern="100" dirty="0" err="1">
                <a:solidFill>
                  <a:srgbClr val="222222"/>
                </a:solidFill>
                <a:effectLst/>
                <a:latin typeface="Arial;sans-serif"/>
                <a:ea typeface="Noto Serif CJK SC"/>
                <a:cs typeface="Lohit Devanagari"/>
              </a:rPr>
              <a:t>Panghal</a:t>
            </a:r>
            <a:r>
              <a:rPr lang="en-IN" sz="1800" kern="100" dirty="0">
                <a:solidFill>
                  <a:srgbClr val="222222"/>
                </a:solidFill>
                <a:effectLst/>
                <a:latin typeface="Arial;sans-serif"/>
                <a:ea typeface="Noto Serif CJK SC"/>
                <a:cs typeface="Lohit Devanagari"/>
              </a:rPr>
              <a:t>, A., Pan, S., Vern, P., Mor, R. S., &amp; Jagtap, S. (2024). Blockchain technology for enhancing sustainable food systems: a consumer perspective. </a:t>
            </a:r>
            <a:r>
              <a:rPr lang="en-IN" sz="1800" i="1" kern="100" dirty="0">
                <a:solidFill>
                  <a:srgbClr val="222222"/>
                </a:solidFill>
                <a:effectLst/>
                <a:latin typeface="Arial;sans-serif"/>
                <a:ea typeface="Noto Serif CJK SC"/>
                <a:cs typeface="Lohit Devanagari"/>
              </a:rPr>
              <a:t>International Journal of Food Science &amp; Technology</a:t>
            </a:r>
            <a:r>
              <a:rPr lang="en-IN" sz="1800" kern="100" dirty="0">
                <a:solidFill>
                  <a:srgbClr val="222222"/>
                </a:solidFill>
                <a:effectLst/>
                <a:latin typeface="Arial;sans-serif"/>
                <a:ea typeface="Noto Serif CJK SC"/>
                <a:cs typeface="Lohit Devanagari"/>
              </a:rPr>
              <a:t>, </a:t>
            </a:r>
            <a:r>
              <a:rPr lang="en-IN" sz="1800" i="1" kern="100" dirty="0">
                <a:solidFill>
                  <a:srgbClr val="222222"/>
                </a:solidFill>
                <a:effectLst/>
                <a:latin typeface="Arial;sans-serif"/>
                <a:ea typeface="Noto Serif CJK SC"/>
                <a:cs typeface="Lohit Devanagari"/>
              </a:rPr>
              <a:t>59</a:t>
            </a:r>
            <a:r>
              <a:rPr lang="en-IN" sz="1800" kern="100" dirty="0">
                <a:solidFill>
                  <a:srgbClr val="222222"/>
                </a:solidFill>
                <a:effectLst/>
                <a:latin typeface="Arial;sans-serif"/>
                <a:ea typeface="Noto Serif CJK SC"/>
                <a:cs typeface="Lohit Devanagari"/>
              </a:rPr>
              <a:t>(5), 3461-3468.</a:t>
            </a:r>
            <a:endParaRPr lang="en-IN" sz="1800" kern="100" dirty="0">
              <a:effectLst/>
              <a:latin typeface="Liberation Serif"/>
              <a:ea typeface="Noto Serif CJK SC"/>
              <a:cs typeface="Lohit Devanagari"/>
            </a:endParaRPr>
          </a:p>
          <a:p>
            <a:pPr marL="342900" lvl="0" indent="-342900">
              <a:buFont typeface="+mj-lt"/>
              <a:buAutoNum type="arabicPeriod"/>
              <a:tabLst>
                <a:tab pos="457200" algn="l"/>
              </a:tabLst>
            </a:pPr>
            <a:r>
              <a:rPr lang="en-IN" sz="1800" kern="100" dirty="0">
                <a:solidFill>
                  <a:srgbClr val="222222"/>
                </a:solidFill>
                <a:effectLst/>
                <a:latin typeface="Arial;sans-serif"/>
                <a:ea typeface="Noto Serif CJK SC"/>
                <a:cs typeface="Lohit Devanagari"/>
              </a:rPr>
              <a:t>Gupta, R., &amp; Shankar, R. (2024). Managing food security using blockchain-enabled traceability system. </a:t>
            </a:r>
            <a:r>
              <a:rPr lang="en-IN" sz="1800" i="1" kern="100" dirty="0">
                <a:solidFill>
                  <a:srgbClr val="222222"/>
                </a:solidFill>
                <a:effectLst/>
                <a:latin typeface="Arial;sans-serif"/>
                <a:ea typeface="Noto Serif CJK SC"/>
                <a:cs typeface="Lohit Devanagari"/>
              </a:rPr>
              <a:t>Benchmarking: An International Journal</a:t>
            </a:r>
            <a:r>
              <a:rPr lang="en-IN" sz="1800" kern="100" dirty="0">
                <a:solidFill>
                  <a:srgbClr val="222222"/>
                </a:solidFill>
                <a:effectLst/>
                <a:latin typeface="Arial;sans-serif"/>
                <a:ea typeface="Noto Serif CJK SC"/>
                <a:cs typeface="Lohit Devanagari"/>
              </a:rPr>
              <a:t>, </a:t>
            </a:r>
            <a:r>
              <a:rPr lang="en-IN" sz="1800" i="1" kern="100" dirty="0">
                <a:solidFill>
                  <a:srgbClr val="222222"/>
                </a:solidFill>
                <a:effectLst/>
                <a:latin typeface="Arial;sans-serif"/>
                <a:ea typeface="Noto Serif CJK SC"/>
                <a:cs typeface="Lohit Devanagari"/>
              </a:rPr>
              <a:t>31</a:t>
            </a:r>
            <a:r>
              <a:rPr lang="en-IN" sz="1800" kern="100" dirty="0">
                <a:solidFill>
                  <a:srgbClr val="222222"/>
                </a:solidFill>
                <a:effectLst/>
                <a:latin typeface="Arial;sans-serif"/>
                <a:ea typeface="Noto Serif CJK SC"/>
                <a:cs typeface="Lohit Devanagari"/>
              </a:rPr>
              <a:t>(1), 53-74.</a:t>
            </a:r>
            <a:endParaRPr lang="en-IN" sz="1800" kern="100" dirty="0">
              <a:effectLst/>
              <a:latin typeface="Liberation Serif"/>
              <a:ea typeface="Noto Serif CJK SC"/>
              <a:cs typeface="Lohit Devanagari"/>
            </a:endParaRPr>
          </a:p>
          <a:p>
            <a:pPr marL="342900" lvl="0" indent="-342900">
              <a:buFont typeface="+mj-lt"/>
              <a:buAutoNum type="arabicPeriod"/>
              <a:tabLst>
                <a:tab pos="457200" algn="l"/>
              </a:tabLst>
            </a:pPr>
            <a:r>
              <a:rPr lang="en-IN" sz="1800" kern="100" dirty="0" err="1">
                <a:solidFill>
                  <a:srgbClr val="222222"/>
                </a:solidFill>
                <a:effectLst/>
                <a:latin typeface="Arial;sans-serif"/>
                <a:ea typeface="Noto Serif CJK SC"/>
                <a:cs typeface="Lohit Devanagari"/>
              </a:rPr>
              <a:t>Jahanbin</a:t>
            </a:r>
            <a:r>
              <a:rPr lang="en-IN" sz="1800" kern="100" dirty="0">
                <a:solidFill>
                  <a:srgbClr val="222222"/>
                </a:solidFill>
                <a:effectLst/>
                <a:latin typeface="Arial;sans-serif"/>
                <a:ea typeface="Noto Serif CJK SC"/>
                <a:cs typeface="Lohit Devanagari"/>
              </a:rPr>
              <a:t>, P., </a:t>
            </a:r>
            <a:r>
              <a:rPr lang="en-IN" sz="1800" kern="100" dirty="0" err="1">
                <a:solidFill>
                  <a:srgbClr val="222222"/>
                </a:solidFill>
                <a:effectLst/>
                <a:latin typeface="Arial;sans-serif"/>
                <a:ea typeface="Noto Serif CJK SC"/>
                <a:cs typeface="Lohit Devanagari"/>
              </a:rPr>
              <a:t>Wingreen</a:t>
            </a:r>
            <a:r>
              <a:rPr lang="en-IN" sz="1800" kern="100" dirty="0">
                <a:solidFill>
                  <a:srgbClr val="222222"/>
                </a:solidFill>
                <a:effectLst/>
                <a:latin typeface="Arial;sans-serif"/>
                <a:ea typeface="Noto Serif CJK SC"/>
                <a:cs typeface="Lohit Devanagari"/>
              </a:rPr>
              <a:t>, S. C., Sharma, R., </a:t>
            </a:r>
            <a:r>
              <a:rPr lang="en-IN" sz="1800" kern="100" dirty="0" err="1">
                <a:solidFill>
                  <a:srgbClr val="222222"/>
                </a:solidFill>
                <a:effectLst/>
                <a:latin typeface="Arial;sans-serif"/>
                <a:ea typeface="Noto Serif CJK SC"/>
                <a:cs typeface="Lohit Devanagari"/>
              </a:rPr>
              <a:t>Ijadi</a:t>
            </a:r>
            <a:r>
              <a:rPr lang="en-IN" sz="1800" kern="100" dirty="0">
                <a:solidFill>
                  <a:srgbClr val="222222"/>
                </a:solidFill>
                <a:effectLst/>
                <a:latin typeface="Arial;sans-serif"/>
                <a:ea typeface="Noto Serif CJK SC"/>
                <a:cs typeface="Lohit Devanagari"/>
              </a:rPr>
              <a:t>, B., &amp; Reis, M. M. (2023). Enabling affordances of blockchain in agri-food supply chains: A value-driver framework using Q-methodology. </a:t>
            </a:r>
            <a:r>
              <a:rPr lang="en-IN" sz="1800" i="1" kern="100" dirty="0">
                <a:solidFill>
                  <a:srgbClr val="222222"/>
                </a:solidFill>
                <a:effectLst/>
                <a:latin typeface="Arial;sans-serif"/>
                <a:ea typeface="Noto Serif CJK SC"/>
                <a:cs typeface="Lohit Devanagari"/>
              </a:rPr>
              <a:t>International Journal of Innovation Studies</a:t>
            </a:r>
            <a:r>
              <a:rPr lang="en-IN" sz="1800" kern="100" dirty="0">
                <a:solidFill>
                  <a:srgbClr val="222222"/>
                </a:solidFill>
                <a:effectLst/>
                <a:latin typeface="Arial;sans-serif"/>
                <a:ea typeface="Noto Serif CJK SC"/>
                <a:cs typeface="Lohit Devanagari"/>
              </a:rPr>
              <a:t>, </a:t>
            </a:r>
            <a:r>
              <a:rPr lang="en-IN" sz="1800" i="1" kern="100" dirty="0">
                <a:solidFill>
                  <a:srgbClr val="222222"/>
                </a:solidFill>
                <a:effectLst/>
                <a:latin typeface="Arial;sans-serif"/>
                <a:ea typeface="Noto Serif CJK SC"/>
                <a:cs typeface="Lohit Devanagari"/>
              </a:rPr>
              <a:t>7</a:t>
            </a:r>
            <a:r>
              <a:rPr lang="en-IN" sz="1800" kern="100" dirty="0">
                <a:solidFill>
                  <a:srgbClr val="222222"/>
                </a:solidFill>
                <a:effectLst/>
                <a:latin typeface="Arial;sans-serif"/>
                <a:ea typeface="Noto Serif CJK SC"/>
                <a:cs typeface="Lohit Devanagari"/>
              </a:rPr>
              <a:t>(4), 307-325.</a:t>
            </a:r>
            <a:endParaRPr lang="en-IN" sz="1800" kern="100" dirty="0">
              <a:solidFill>
                <a:srgbClr val="222222"/>
              </a:solidFill>
              <a:effectLst/>
              <a:latin typeface="Liberation Serif"/>
              <a:ea typeface="Noto Serif CJK SC"/>
              <a:cs typeface="Lohit Devanagari"/>
            </a:endParaRPr>
          </a:p>
          <a:p>
            <a:r>
              <a:rPr lang="en-IN" sz="1800" kern="100" dirty="0">
                <a:solidFill>
                  <a:srgbClr val="222222"/>
                </a:solidFill>
                <a:effectLst/>
                <a:latin typeface="Arial;sans-serif"/>
                <a:ea typeface="Noto Serif CJK SC"/>
                <a:cs typeface="Lohit Devanagari"/>
              </a:rPr>
              <a:t> </a:t>
            </a:r>
            <a:endParaRPr lang="en-IN" sz="1800" kern="100" dirty="0">
              <a:effectLst/>
              <a:latin typeface="Liberation Serif"/>
              <a:ea typeface="Noto Serif CJK SC"/>
              <a:cs typeface="Lohit Devanagari"/>
            </a:endParaRPr>
          </a:p>
          <a:p>
            <a:pPr marL="0" indent="0">
              <a:buNone/>
            </a:pPr>
            <a:endParaRPr lang="en-IN" dirty="0"/>
          </a:p>
        </p:txBody>
      </p:sp>
    </p:spTree>
    <p:extLst>
      <p:ext uri="{BB962C8B-B14F-4D97-AF65-F5344CB8AC3E}">
        <p14:creationId xmlns:p14="http://schemas.microsoft.com/office/powerpoint/2010/main" val="2303920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ank You Images – Browse 284,942 Stock Photos, Vectors, and Video | Adobe  Stock">
            <a:extLst>
              <a:ext uri="{FF2B5EF4-FFF2-40B4-BE49-F238E27FC236}">
                <a16:creationId xmlns:a16="http://schemas.microsoft.com/office/drawing/2014/main" id="{C884EAD4-5826-BCCA-7240-17ECD4A519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6925" y="1714500"/>
            <a:ext cx="805815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774548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2386</TotalTime>
  <Words>894</Words>
  <Application>Microsoft Office PowerPoint</Application>
  <PresentationFormat>Widescreen</PresentationFormat>
  <Paragraphs>112</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Arial;sans-serif</vt:lpstr>
      <vt:lpstr>Calibri</vt:lpstr>
      <vt:lpstr>Calibri Light</vt:lpstr>
      <vt:lpstr>Cambria</vt:lpstr>
      <vt:lpstr>Liberation Serif</vt:lpstr>
      <vt:lpstr>Söhne</vt:lpstr>
      <vt:lpstr>Symbol</vt:lpstr>
      <vt:lpstr>Times New Roman</vt:lpstr>
      <vt:lpstr>Retrospect</vt:lpstr>
      <vt:lpstr>PowerPoint Presentation</vt:lpstr>
      <vt:lpstr>Problem Statement Number : PSCS215 </vt:lpstr>
      <vt:lpstr>Github Link</vt:lpstr>
      <vt:lpstr>Analysis of Problem Statement</vt:lpstr>
      <vt:lpstr>Software Requirements for Subsidy Distribution Application </vt:lpstr>
      <vt:lpstr>Hardware Requirements for Subsidy Distribution Application</vt:lpstr>
      <vt:lpstr>Timeline of the Project (Gantt Chart)</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Samsung Research Institute-Bangalore (SRI-B)</dc:title>
  <dc:creator>Lajuvanthi M</dc:creator>
  <cp:lastModifiedBy>Diya. K</cp:lastModifiedBy>
  <cp:revision>6</cp:revision>
  <dcterms:created xsi:type="dcterms:W3CDTF">2023-09-10T08:24:58Z</dcterms:created>
  <dcterms:modified xsi:type="dcterms:W3CDTF">2024-09-11T13:24:45Z</dcterms:modified>
</cp:coreProperties>
</file>